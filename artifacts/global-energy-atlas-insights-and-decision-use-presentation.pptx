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7124ddf60a4c05" /><Relationship Type="http://schemas.openxmlformats.org/officeDocument/2006/relationships/extended-properties" Target="/docProps/app.xml" Id="R948e225caa3a4dac" /><Relationship Type="http://schemas.openxmlformats.org/officeDocument/2006/relationships/officeDocument" Target="/ppt/presentation.xml" Id="Rf55cb412f8854e70" /></Relationships>
</file>

<file path=ppt/presentation.xml><?xml version="1.0" encoding="utf-8"?>
<p:presentation xmlns:p="http://schemas.openxmlformats.org/presentationml/2006/main">
  <p:sldMasterIdLst>
    <p:sldMasterId xmlns:r="http://schemas.openxmlformats.org/officeDocument/2006/relationships" id="2147483648" r:id="R944455a1357e49fa"/>
  </p:sldMasterIdLst>
  <p:notesMasterIdLst>
    <p:notesMasterId xmlns:r="http://schemas.openxmlformats.org/officeDocument/2006/relationships" r:id="R6f983e55b9ad4ca5"/>
  </p:notesMasterIdLst>
  <p:sldIdLst>
    <p:sldId xmlns:r="http://schemas.openxmlformats.org/officeDocument/2006/relationships" id="256" r:id="Rdc5a8bd13c5f44b1"/>
    <p:sldId xmlns:r="http://schemas.openxmlformats.org/officeDocument/2006/relationships" id="257" r:id="Rc8ceb88db1d04923"/>
    <p:sldId xmlns:r="http://schemas.openxmlformats.org/officeDocument/2006/relationships" id="258" r:id="R1c1d4f9d316a40af"/>
    <p:sldId xmlns:r="http://schemas.openxmlformats.org/officeDocument/2006/relationships" id="259" r:id="Rce6a444bd2304e3f"/>
    <p:sldId xmlns:r="http://schemas.openxmlformats.org/officeDocument/2006/relationships" id="260" r:id="Rfa923dc9374c4bb9"/>
    <p:sldId xmlns:r="http://schemas.openxmlformats.org/officeDocument/2006/relationships" id="261" r:id="R14167c1720ee404b"/>
    <p:sldId xmlns:r="http://schemas.openxmlformats.org/officeDocument/2006/relationships" id="262" r:id="R984eb6f89fa244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c8bf135a25497a" /><Relationship Type="http://schemas.openxmlformats.org/officeDocument/2006/relationships/slideMaster" Target="/ppt/slideMasters/slideMaster1.xml" Id="R944455a1357e49fa" /><Relationship Type="http://schemas.openxmlformats.org/officeDocument/2006/relationships/notesMaster" Target="/ppt/notesMasters/notesMaster1.xml" Id="R6f983e55b9ad4ca5" /><Relationship Type="http://schemas.openxmlformats.org/officeDocument/2006/relationships/presProps" Target="/ppt/presProps.xml" Id="R8703a40ee5314f75" /><Relationship Type="http://schemas.openxmlformats.org/officeDocument/2006/relationships/tableStyles" Target="/ppt/tableStyles.xml" Id="Rea6223d1c59648bd" /><Relationship Type="http://schemas.openxmlformats.org/officeDocument/2006/relationships/slide" Target="/ppt/slides/slide1.xml" Id="Rdc5a8bd13c5f44b1" /><Relationship Type="http://schemas.openxmlformats.org/officeDocument/2006/relationships/slide" Target="/ppt/slides/slide2.xml" Id="Rc8ceb88db1d04923" /><Relationship Type="http://schemas.openxmlformats.org/officeDocument/2006/relationships/slide" Target="/ppt/slides/slide3.xml" Id="R1c1d4f9d316a40af" /><Relationship Type="http://schemas.openxmlformats.org/officeDocument/2006/relationships/slide" Target="/ppt/slides/slide4.xml" Id="Rce6a444bd2304e3f" /><Relationship Type="http://schemas.openxmlformats.org/officeDocument/2006/relationships/slide" Target="/ppt/slides/slide5.xml" Id="Rfa923dc9374c4bb9" /><Relationship Type="http://schemas.openxmlformats.org/officeDocument/2006/relationships/slide" Target="/ppt/slides/slide6.xml" Id="R14167c1720ee404b" /><Relationship Type="http://schemas.openxmlformats.org/officeDocument/2006/relationships/slide" Target="/ppt/slides/slide7.xml" Id="R984eb6f89fa244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17351aa4ee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183ac89c984330" /><Relationship Type="http://schemas.openxmlformats.org/officeDocument/2006/relationships/notesMaster" Target="/ppt/notesMasters/notesMaster1.xml" Id="R18286a15b54144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9f807b4f0404d" /><Relationship Type="http://schemas.openxmlformats.org/officeDocument/2006/relationships/notesMaster" Target="/ppt/notesMasters/notesMaster1.xml" Id="R0f7535511c9647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26aad3e97740c4" /><Relationship Type="http://schemas.openxmlformats.org/officeDocument/2006/relationships/notesMaster" Target="/ppt/notesMasters/notesMaster1.xml" Id="Ra460602caf294f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bc525516ea4ef1" /><Relationship Type="http://schemas.openxmlformats.org/officeDocument/2006/relationships/notesMaster" Target="/ppt/notesMasters/notesMaster1.xml" Id="Rbdf6542d891b4c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6d2238321e4e88" /><Relationship Type="http://schemas.openxmlformats.org/officeDocument/2006/relationships/notesMaster" Target="/ppt/notesMasters/notesMaster1.xml" Id="Rbf1120e703c546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262ae3a66949b3" /><Relationship Type="http://schemas.openxmlformats.org/officeDocument/2006/relationships/notesMaster" Target="/ppt/notesMasters/notesMaster1.xml" Id="Ra16e1276d9f54f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44a8b8d0764d64" /><Relationship Type="http://schemas.openxmlformats.org/officeDocument/2006/relationships/notesMaster" Target="/ppt/notesMasters/notesMaster1.xml" Id="R0f3d4c690fa347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35 seconds.</a:t>
            </a:r>
          </a:p>
          <a:p xmlns:a="http://schemas.openxmlformats.org/drawingml/2006/main">
            <a:r>
              <a:t>Talk track: The business question is which markets merit deeper energy diligence. The atlas screens 50 markets for corporate energy and site-selection teams. It compares cost, generation structure, scale, and energy balance as separate signals. The output is an investigation order, not a final market choice.</a:t>
            </a:r>
          </a:p>
          <a:p xmlns:a="http://schemas.openxmlformats.org/drawingml/2006/main">
            <a:r>
              <a:t>Sources: artifacts/analysis-summary.json; data/story-presets.json; src/pages/AtlasPage.tsx.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The Expanded 50 is a non-random screen. Household price, consumption, non-fossil share, and balance each have 47 complete records of 50; business price has 45. Prices average 2023-2026 average; the energy measures use 2023. The ranges are wide, and the complete-case correlations use only 43 to 45 records. Association does not establish cause.</a:t>
            </a:r>
          </a:p>
          <a:p xmlns:a="http://schemas.openxmlformats.org/drawingml/2006/main">
            <a:r>
              <a:t>Sources: artifacts/analysis-summary.json; data/story-presets.json; data/expanded-energy-50-v1.csv; data/expanded-energy-50-v1.sources.json.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Italy is the European price high point at 0.414 dollars per kilowatt-hour for households and 0.411 for business. The structure story shows why price needs a separate mix check: Ethiopia pairs 0.006 with 100.0 percent non-fossil generation, Norway pairs 0.165 with 98.5 percent, and Algeria pairs 0.041 with 0.9 percent. These national averages do not reveal a facility tariff or contract.</a:t>
            </a:r>
          </a:p>
          <a:p xmlns:a="http://schemas.openxmlformats.org/drawingml/2006/main">
            <a:r>
              <a:t>Sources: artifacts/analysis-summary.json; data/story-presets.json; https://www.globalpetrolprices.com/electricity_prices/; https://owid-public.owid.io/data/energy/owid-energy-data.csv.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China accounts for 31.1 percent of reported consumption and the United States for 17.3 percent. Together they represent 48.4 percent; the top five represent 64.6 percent of 545.0 reported exajoules. Country counts therefore do not measure portfolio weight. A few large markets can dominate exposure and the value of follow-up work.</a:t>
            </a:r>
          </a:p>
          <a:p xmlns:a="http://schemas.openxmlformats.org/drawingml/2006/main">
            <a:r>
              <a:t>Sources: artifacts/analysis-summary.json; data/story-presets.json; data/expanded-energy-50-v1.csv; https://owid-public.owid.io/data/energy/owid-energy-data.csv.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Talk track: The balance gap is consumption minus production. China is positive 35.5 exajoules and India is positive 16.2. Russia is -31.0 and the United States is -14.0. These positions help order exposure questions. They are not actual import or export flows because the calculation does not observe inventories, transformation losses, or cross-border movements.</a:t>
            </a:r>
          </a:p>
          <a:p xmlns:a="http://schemas.openxmlformats.org/drawingml/2006/main">
            <a:r>
              <a:t>Sources: artifacts/analysis-summary.json; data/story-presets.json; data/expanded-energy-50-v1.csv; https://api.eia.gov/bulk/INTL.zip.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50 seconds.</a:t>
            </a:r>
          </a:p>
          <a:p xmlns:a="http://schemas.openxmlformats.org/drawingml/2006/main">
            <a:r>
              <a:t>Talk track: The shortlist orders investigation rather than ranking the best market. Start with China, India, and the United States for scale and balance exposure. Use Ethiopia, Norway, Italy, and Algeria to test the sharp price and mix contrasts. For every case, replace the national screen with the facility tariff and demand charges, contract terms and hedging, available grid capacity and connection cost, plus reliability and curtailment history.</a:t>
            </a:r>
          </a:p>
          <a:p xmlns:a="http://schemas.openxmlformats.org/drawingml/2006/main">
            <a:r>
              <a:t>Sources: artifacts/analysis-summary.json; data/story-presets.json; https://www.iea.org/reports/italy-2023/executive-summary; https://www.worldbank.org/content/dam/theworldbankgroupasset/document/2026/Ethiopia-National-Energy-Compact-Mission-300.pdf.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40 seconds.</a:t>
            </a:r>
          </a:p>
          <a:p xmlns:a="http://schemas.openxmlformats.org/drawingml/2006/main">
            <a:r>
              <a:t>Talk track: Descriptive analysis is performed; diagnostic analysis is partial. Predictive and prescriptive work were not performed. The atlas does not predict future electricity prices, demand, reliability, or emissions, and it does not identify an optimal site. Missing values change denominators, the indicators mix reference years, and national averages do not substitute for facility tariffs or reliability records. The correlations do not establish causation, and the balance gap is not an observed trade flow. The public Deliverables page provides all 11 files without sign-in.</a:t>
            </a:r>
          </a:p>
          <a:p xmlns:a="http://schemas.openxmlformats.org/drawingml/2006/main">
            <a:r>
              <a:t>Sources: artifacts/analysis-summary.json; data/story-presets.json; README.md; data/deliverables.json; src/pages/DeliverablesPage.tsx.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397e10a4e648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ed6b47c78245e8" /><Relationship Type="http://schemas.openxmlformats.org/officeDocument/2006/relationships/slideLayout" Target="/ppt/slideLayouts/slideLayout1.xml" Id="Ra4752338f62147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752338f62147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0c450fd15146e8" /><Relationship Type="http://schemas.openxmlformats.org/officeDocument/2006/relationships/image" Target="/ppt/media/image.png" Id="R04328cdb76f944fa" /><Relationship Type="http://schemas.openxmlformats.org/officeDocument/2006/relationships/notesSlide" Target="/ppt/notesSlides/notesSlide1.xml" Id="R129abb1a949f41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f00439dc014a59" /><Relationship Type="http://schemas.openxmlformats.org/officeDocument/2006/relationships/image" Target="/ppt/media/image2.png" Id="R1e56f99768414ad7" /><Relationship Type="http://schemas.openxmlformats.org/officeDocument/2006/relationships/notesSlide" Target="/ppt/notesSlides/notesSlide2.xml" Id="R1424c024438745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1374e58dae40bf" /><Relationship Type="http://schemas.openxmlformats.org/officeDocument/2006/relationships/image" Target="/ppt/media/image3.png" Id="Rb400c9410e544f18" /><Relationship Type="http://schemas.openxmlformats.org/officeDocument/2006/relationships/image" Target="/ppt/media/image4.png" Id="R7f5e24f4d5d34640" /><Relationship Type="http://schemas.openxmlformats.org/officeDocument/2006/relationships/notesSlide" Target="/ppt/notesSlides/notesSlide3.xml" Id="Rb0e4bc06101846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9f4448b8054020" /><Relationship Type="http://schemas.openxmlformats.org/officeDocument/2006/relationships/image" Target="/ppt/media/image5.png" Id="R009128fa6fea4a82" /><Relationship Type="http://schemas.openxmlformats.org/officeDocument/2006/relationships/image" Target="/ppt/media/image6.png" Id="R599eca56aebc424a" /><Relationship Type="http://schemas.openxmlformats.org/officeDocument/2006/relationships/notesSlide" Target="/ppt/notesSlides/notesSlide4.xml" Id="R2dd43629264f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c93adaeceb454a" /><Relationship Type="http://schemas.openxmlformats.org/officeDocument/2006/relationships/image" Target="/ppt/media/image7.png" Id="Rd0260a3f48704b51" /><Relationship Type="http://schemas.openxmlformats.org/officeDocument/2006/relationships/image" Target="/ppt/media/image8.png" Id="R5cb04fbce94d49fb" /><Relationship Type="http://schemas.openxmlformats.org/officeDocument/2006/relationships/notesSlide" Target="/ppt/notesSlides/notesSlide5.xml" Id="Raaa4919d472645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761b625bb9459b" /><Relationship Type="http://schemas.openxmlformats.org/officeDocument/2006/relationships/image" Target="/ppt/media/image9.png" Id="Rec3c08c6cc264309" /><Relationship Type="http://schemas.openxmlformats.org/officeDocument/2006/relationships/notesSlide" Target="/ppt/notesSlides/notesSlide6.xml" Id="R7e45c789791548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b3fc255d7e4192" /><Relationship Type="http://schemas.openxmlformats.org/officeDocument/2006/relationships/image" Target="/ppt/media/image10.png" Id="R45a1003a05644220" /><Relationship Type="http://schemas.openxmlformats.org/officeDocument/2006/relationships/notesSlide" Target="/ppt/notesSlides/notesSlide7.xml" Id="R09a78253cb06490c" /></Relationships>
</file>

<file path=ppt/slides/slide1.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4328cdb76f944fa"/>
          <a:srcRect xmlns:a="http://schemas.openxmlformats.org/drawingml/2006/main" l="33336" t="0" r="33336"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155341-1874-49CF-AEE3-A46A15EFDCDC}"/>
              </a:ext>
            </a:extLst>
          </p:cNvPr>
          <p:cNvSpPr>
            <a:spLocks xmlns:a="http://schemas.openxmlformats.org/drawingml/2006/main" noGrp="1"/>
          </p:cNvSpPr>
          <p:nvPr/>
        </p:nvSpPr>
        <p:spPr>
          <a:xfrm xmlns:a="http://schemas.openxmlformats.org/drawingml/2006/main">
            <a:off x="647700" y="666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a:solidFill>
                  <a:srgbClr val="087F5B"/>
                </a:solidFill>
                <a:latin typeface="Arial"/>
                <a:ea typeface="Arial"/>
                <a:cs typeface="Arial"/>
              </a:defRPr>
            </a:pPr>
            <a:r>
              <a:rPr sz="1350" b="1">
                <a:solidFill>
                  <a:srgbClr val="087F5B"/>
                </a:solidFill>
                <a:latin typeface="Arial"/>
                <a:ea typeface="Arial"/>
                <a:cs typeface="Arial"/>
              </a:rPr>
              <a:t>Global Energy Decision Atlas</a:t>
            </a:r>
          </a:p>
        </p:txBody>
      </p:sp>
      <p:sp>
        <p:nvSpPr>
          <p:cNvPr id="3" name="">
            <a:extLst xmlns:a="http://schemas.openxmlformats.org/drawingml/2006/main">
              <a:ext uri="{FF2B5EF4-FFF2-40B4-BE49-F238E27FC236}">
                <a16:creationId xmlns:a16="http://schemas.microsoft.com/office/drawing/2014/main" id="{787E7F0B-80CE-4A25-A31A-364D9C0E4BF8}"/>
              </a:ext>
            </a:extLst>
          </p:cNvPr>
          <p:cNvSpPr>
            <a:spLocks xmlns:a="http://schemas.openxmlformats.org/drawingml/2006/main" noGrp="1"/>
          </p:cNvSpPr>
          <p:nvPr/>
        </p:nvSpPr>
        <p:spPr>
          <a:xfrm xmlns:a="http://schemas.openxmlformats.org/drawingml/2006/main">
            <a:off x="647700" y="1371600"/>
            <a:ext cx="5619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226"/>
          </a:bodyPr>
          <a:lstStyle xmlns:a="http://schemas.openxmlformats.org/drawingml/2006/main"/>
          <a:p xmlns:a="http://schemas.openxmlformats.org/drawingml/2006/main">
            <a:pPr>
              <a:defRPr sz="4050" b="1">
                <a:solidFill>
                  <a:srgbClr val="17201C"/>
                </a:solidFill>
                <a:latin typeface="Arial"/>
                <a:ea typeface="Arial"/>
                <a:cs typeface="Arial"/>
              </a:defRPr>
            </a:pPr>
            <a:r>
              <a:rPr sz="4050" b="1">
                <a:solidFill>
                  <a:srgbClr val="17201C"/>
                </a:solidFill>
                <a:latin typeface="Arial"/>
                <a:ea typeface="Arial"/>
                <a:cs typeface="Arial"/>
              </a:rPr>
              <a:t>Which markets deserve deeper energy diligence?</a:t>
            </a:r>
          </a:p>
        </p:txBody>
      </p:sp>
      <p:sp>
        <p:nvSpPr>
          <p:cNvPr id="4" name="">
            <a:extLst xmlns:a="http://schemas.openxmlformats.org/drawingml/2006/main">
              <a:ext uri="{FF2B5EF4-FFF2-40B4-BE49-F238E27FC236}">
                <a16:creationId xmlns:a16="http://schemas.microsoft.com/office/drawing/2014/main" id="{E0843080-4D36-4481-BA25-E3FAA0BD9184}"/>
              </a:ext>
            </a:extLst>
          </p:cNvPr>
          <p:cNvSpPr>
            <a:spLocks xmlns:a="http://schemas.openxmlformats.org/drawingml/2006/main" noGrp="1"/>
          </p:cNvSpPr>
          <p:nvPr/>
        </p:nvSpPr>
        <p:spPr>
          <a:xfrm xmlns:a="http://schemas.openxmlformats.org/drawingml/2006/main">
            <a:off x="66675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59645D"/>
                </a:solidFill>
                <a:latin typeface="Arial"/>
                <a:ea typeface="Arial"/>
                <a:cs typeface="Arial"/>
              </a:defRPr>
            </a:pPr>
            <a:r>
              <a:rPr sz="1875" b="0">
                <a:solidFill>
                  <a:srgbClr val="59645D"/>
                </a:solidFill>
                <a:latin typeface="Arial"/>
                <a:ea typeface="Arial"/>
                <a:cs typeface="Arial"/>
              </a:rPr>
              <a:t>A decision screen for corporate energy and site-selection teams across 50 non-random markets.</a:t>
            </a:r>
          </a:p>
        </p:txBody>
      </p:sp>
      <p:sp>
        <p:nvSpPr>
          <p:cNvPr id="5" name="">
            <a:extLst xmlns:a="http://schemas.openxmlformats.org/drawingml/2006/main">
              <a:ext uri="{FF2B5EF4-FFF2-40B4-BE49-F238E27FC236}">
                <a16:creationId xmlns:a16="http://schemas.microsoft.com/office/drawing/2014/main" id="{4FAF1261-603A-4E8C-BD90-F99F705776FA}"/>
              </a:ext>
            </a:extLst>
          </p:cNvPr>
          <p:cNvSpPr>
            <a:spLocks xmlns:a="http://schemas.openxmlformats.org/drawingml/2006/main" noGrp="1"/>
          </p:cNvSpPr>
          <p:nvPr/>
        </p:nvSpPr>
        <p:spPr>
          <a:xfrm xmlns:a="http://schemas.openxmlformats.org/drawingml/2006/main">
            <a:off x="666750" y="58483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46"/>
          </a:bodyPr>
          <a:lstStyle xmlns:a="http://schemas.openxmlformats.org/drawingml/2006/main"/>
          <a:p xmlns:a="http://schemas.openxmlformats.org/drawingml/2006/main">
            <a:pPr>
              <a:defRPr sz="1425" b="1">
                <a:solidFill>
                  <a:srgbClr val="087F5B"/>
                </a:solidFill>
                <a:latin typeface="Arial"/>
                <a:ea typeface="Arial"/>
                <a:cs typeface="Arial"/>
              </a:defRPr>
            </a:pPr>
            <a:r>
              <a:rPr sz="1425" b="1">
                <a:solidFill>
                  <a:srgbClr val="087F5B"/>
                </a:solidFill>
                <a:latin typeface="Arial"/>
                <a:ea typeface="Arial"/>
                <a:cs typeface="Arial"/>
              </a:rPr>
              <a:t>Insights and decision use | Five minutes</a:t>
            </a:r>
          </a:p>
        </p:txBody>
      </p:sp>
      <p:sp>
        <p:nvSpPr>
          <p:cNvPr id="6" name="">
            <a:extLst xmlns:a="http://schemas.openxmlformats.org/drawingml/2006/main">
              <a:ext uri="{FF2B5EF4-FFF2-40B4-BE49-F238E27FC236}">
                <a16:creationId xmlns:a16="http://schemas.microsoft.com/office/drawing/2014/main" id="{49219664-9A48-465D-8FAA-FA2BD4C52A45}"/>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7" name="">
            <a:extLst xmlns:a="http://schemas.openxmlformats.org/drawingml/2006/main">
              <a:ext uri="{FF2B5EF4-FFF2-40B4-BE49-F238E27FC236}">
                <a16:creationId xmlns:a16="http://schemas.microsoft.com/office/drawing/2014/main" id="{BEF1B00B-76AA-4BE1-890B-AE62E79A96E6}"/>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01</a:t>
            </a:r>
          </a:p>
        </p:txBody>
      </p:sp>
    </p:spTree>
    <p:extLst>
      <p:ext uri="{BB962C8B-B14F-4D97-AF65-F5344CB8AC3E}">
        <p14:creationId xmlns:p14="http://schemas.microsoft.com/office/powerpoint/2010/main" val="1055350221"/>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989709-42AF-49FE-A172-71455127EDC1}"/>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Data scope and general observations</a:t>
            </a:r>
          </a:p>
        </p:txBody>
      </p:sp>
      <p:sp>
        <p:nvSpPr>
          <p:cNvPr id="2" name="">
            <a:extLst xmlns:a="http://schemas.openxmlformats.org/drawingml/2006/main">
              <a:ext uri="{FF2B5EF4-FFF2-40B4-BE49-F238E27FC236}">
                <a16:creationId xmlns:a16="http://schemas.microsoft.com/office/drawing/2014/main" id="{1790B212-7CED-4311-B728-DF69EDD7AA48}"/>
              </a:ext>
            </a:extLst>
          </p:cNvPr>
          <p:cNvSpPr>
            <a:spLocks xmlns:a="http://schemas.openxmlformats.org/drawingml/2006/main" noGrp="1"/>
          </p:cNvSpPr>
          <p:nvPr/>
        </p:nvSpPr>
        <p:spPr>
          <a:xfrm xmlns:a="http://schemas.openxmlformats.org/drawingml/2006/main">
            <a:off x="628650" y="1295400"/>
            <a:ext cx="240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087F5B"/>
                </a:solidFill>
                <a:latin typeface="Arial"/>
                <a:ea typeface="Arial"/>
                <a:cs typeface="Arial"/>
              </a:defRPr>
            </a:pPr>
            <a:r>
              <a:rPr sz="2925" b="1">
                <a:solidFill>
                  <a:srgbClr val="087F5B"/>
                </a:solidFill>
                <a:latin typeface="Arial"/>
                <a:ea typeface="Arial"/>
                <a:cs typeface="Arial"/>
              </a:rPr>
              <a:t>50</a:t>
            </a:r>
          </a:p>
        </p:txBody>
      </p:sp>
      <p:sp>
        <p:nvSpPr>
          <p:cNvPr id="3" name="">
            <a:extLst xmlns:a="http://schemas.openxmlformats.org/drawingml/2006/main">
              <a:ext uri="{FF2B5EF4-FFF2-40B4-BE49-F238E27FC236}">
                <a16:creationId xmlns:a16="http://schemas.microsoft.com/office/drawing/2014/main" id="{A6B5083E-B19B-4B75-9A43-CD173A488B2B}"/>
              </a:ext>
            </a:extLst>
          </p:cNvPr>
          <p:cNvSpPr>
            <a:spLocks xmlns:a="http://schemas.openxmlformats.org/drawingml/2006/main" noGrp="1"/>
          </p:cNvSpPr>
          <p:nvPr/>
        </p:nvSpPr>
        <p:spPr>
          <a:xfrm xmlns:a="http://schemas.openxmlformats.org/drawingml/2006/main">
            <a:off x="628650" y="1838325"/>
            <a:ext cx="2400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25"/>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non-random markets selected for breadth and data availability</a:t>
            </a:r>
          </a:p>
        </p:txBody>
      </p:sp>
      <p:sp>
        <p:nvSpPr>
          <p:cNvPr id="4" name="">
            <a:extLst xmlns:a="http://schemas.openxmlformats.org/drawingml/2006/main">
              <a:ext uri="{FF2B5EF4-FFF2-40B4-BE49-F238E27FC236}">
                <a16:creationId xmlns:a16="http://schemas.microsoft.com/office/drawing/2014/main" id="{C75D5CF7-CE6D-4C57-B7C5-D9A452E1E5EC}"/>
              </a:ext>
            </a:extLst>
          </p:cNvPr>
          <p:cNvSpPr>
            <a:spLocks xmlns:a="http://schemas.openxmlformats.org/drawingml/2006/main" noGrp="1"/>
          </p:cNvSpPr>
          <p:nvPr/>
        </p:nvSpPr>
        <p:spPr>
          <a:xfrm xmlns:a="http://schemas.openxmlformats.org/drawingml/2006/main">
            <a:off x="3295650" y="1295400"/>
            <a:ext cx="240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27779B"/>
                </a:solidFill>
                <a:latin typeface="Arial"/>
                <a:ea typeface="Arial"/>
                <a:cs typeface="Arial"/>
              </a:defRPr>
            </a:pPr>
            <a:r>
              <a:rPr sz="2925" b="1">
                <a:solidFill>
                  <a:srgbClr val="27779B"/>
                </a:solidFill>
                <a:latin typeface="Arial"/>
                <a:ea typeface="Arial"/>
                <a:cs typeface="Arial"/>
              </a:rPr>
              <a:t>47/50</a:t>
            </a:r>
          </a:p>
        </p:txBody>
      </p:sp>
      <p:sp>
        <p:nvSpPr>
          <p:cNvPr id="5" name="">
            <a:extLst xmlns:a="http://schemas.openxmlformats.org/drawingml/2006/main">
              <a:ext uri="{FF2B5EF4-FFF2-40B4-BE49-F238E27FC236}">
                <a16:creationId xmlns:a16="http://schemas.microsoft.com/office/drawing/2014/main" id="{C2AD0573-C1F7-49CE-A098-4CCEC7E18A1F}"/>
              </a:ext>
            </a:extLst>
          </p:cNvPr>
          <p:cNvSpPr>
            <a:spLocks xmlns:a="http://schemas.openxmlformats.org/drawingml/2006/main" noGrp="1"/>
          </p:cNvSpPr>
          <p:nvPr/>
        </p:nvSpPr>
        <p:spPr>
          <a:xfrm xmlns:a="http://schemas.openxmlformats.org/drawingml/2006/main">
            <a:off x="3295650" y="1838325"/>
            <a:ext cx="2400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household price records (94% coverage)</a:t>
            </a:r>
          </a:p>
        </p:txBody>
      </p:sp>
      <p:sp>
        <p:nvSpPr>
          <p:cNvPr id="6" name="">
            <a:extLst xmlns:a="http://schemas.openxmlformats.org/drawingml/2006/main">
              <a:ext uri="{FF2B5EF4-FFF2-40B4-BE49-F238E27FC236}">
                <a16:creationId xmlns:a16="http://schemas.microsoft.com/office/drawing/2014/main" id="{E2E9D6CD-8052-40AC-BB10-47545C26F7DD}"/>
              </a:ext>
            </a:extLst>
          </p:cNvPr>
          <p:cNvSpPr>
            <a:spLocks xmlns:a="http://schemas.openxmlformats.org/drawingml/2006/main" noGrp="1"/>
          </p:cNvSpPr>
          <p:nvPr/>
        </p:nvSpPr>
        <p:spPr>
          <a:xfrm xmlns:a="http://schemas.openxmlformats.org/drawingml/2006/main">
            <a:off x="5962650" y="1295400"/>
            <a:ext cx="240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C9583C"/>
                </a:solidFill>
                <a:latin typeface="Arial"/>
                <a:ea typeface="Arial"/>
                <a:cs typeface="Arial"/>
              </a:defRPr>
            </a:pPr>
            <a:r>
              <a:rPr sz="2925" b="1">
                <a:solidFill>
                  <a:srgbClr val="C9583C"/>
                </a:solidFill>
                <a:latin typeface="Arial"/>
                <a:ea typeface="Arial"/>
                <a:cs typeface="Arial"/>
              </a:rPr>
              <a:t>45/50</a:t>
            </a:r>
          </a:p>
        </p:txBody>
      </p:sp>
      <p:sp>
        <p:nvSpPr>
          <p:cNvPr id="7" name="">
            <a:extLst xmlns:a="http://schemas.openxmlformats.org/drawingml/2006/main">
              <a:ext uri="{FF2B5EF4-FFF2-40B4-BE49-F238E27FC236}">
                <a16:creationId xmlns:a16="http://schemas.microsoft.com/office/drawing/2014/main" id="{074FC9E9-3F13-4F62-9192-B6D92F1457EB}"/>
              </a:ext>
            </a:extLst>
          </p:cNvPr>
          <p:cNvSpPr>
            <a:spLocks xmlns:a="http://schemas.openxmlformats.org/drawingml/2006/main" noGrp="1"/>
          </p:cNvSpPr>
          <p:nvPr/>
        </p:nvSpPr>
        <p:spPr>
          <a:xfrm xmlns:a="http://schemas.openxmlformats.org/drawingml/2006/main">
            <a:off x="5962650" y="1838325"/>
            <a:ext cx="2400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business price records (90% coverage)</a:t>
            </a:r>
          </a:p>
        </p:txBody>
      </p:sp>
      <p:sp>
        <p:nvSpPr>
          <p:cNvPr id="8" name="">
            <a:extLst xmlns:a="http://schemas.openxmlformats.org/drawingml/2006/main">
              <a:ext uri="{FF2B5EF4-FFF2-40B4-BE49-F238E27FC236}">
                <a16:creationId xmlns:a16="http://schemas.microsoft.com/office/drawing/2014/main" id="{40295F99-FD9B-438E-B663-000B9FF8B616}"/>
              </a:ext>
            </a:extLst>
          </p:cNvPr>
          <p:cNvSpPr>
            <a:spLocks xmlns:a="http://schemas.openxmlformats.org/drawingml/2006/main" noGrp="1"/>
          </p:cNvSpPr>
          <p:nvPr/>
        </p:nvSpPr>
        <p:spPr>
          <a:xfrm xmlns:a="http://schemas.openxmlformats.org/drawingml/2006/main">
            <a:off x="8629650" y="129540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087F5B"/>
                </a:solidFill>
                <a:latin typeface="Arial"/>
                <a:ea typeface="Arial"/>
                <a:cs typeface="Arial"/>
              </a:defRPr>
            </a:pPr>
            <a:r>
              <a:rPr sz="2925" b="1">
                <a:solidFill>
                  <a:srgbClr val="087F5B"/>
                </a:solidFill>
                <a:latin typeface="Arial"/>
                <a:ea typeface="Arial"/>
                <a:cs typeface="Arial"/>
              </a:rPr>
              <a:t>47/50</a:t>
            </a:r>
          </a:p>
        </p:txBody>
      </p:sp>
      <p:sp>
        <p:nvSpPr>
          <p:cNvPr id="9" name="">
            <a:extLst xmlns:a="http://schemas.openxmlformats.org/drawingml/2006/main">
              <a:ext uri="{FF2B5EF4-FFF2-40B4-BE49-F238E27FC236}">
                <a16:creationId xmlns:a16="http://schemas.microsoft.com/office/drawing/2014/main" id="{7BD74330-7477-4CC0-8BD7-5EC5FB7B5D64}"/>
              </a:ext>
            </a:extLst>
          </p:cNvPr>
          <p:cNvSpPr>
            <a:spLocks xmlns:a="http://schemas.openxmlformats.org/drawingml/2006/main" noGrp="1"/>
          </p:cNvSpPr>
          <p:nvPr/>
        </p:nvSpPr>
        <p:spPr>
          <a:xfrm xmlns:a="http://schemas.openxmlformats.org/drawingml/2006/main">
            <a:off x="8629650" y="18383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records for consumption, mix, and balance (94%)</a:t>
            </a:r>
          </a:p>
        </p:txBody>
      </p:sp>
      <p:sp>
        <p:nvSpPr>
          <p:cNvPr id="10" name="">
            <a:extLst xmlns:a="http://schemas.openxmlformats.org/drawingml/2006/main">
              <a:ext uri="{FF2B5EF4-FFF2-40B4-BE49-F238E27FC236}">
                <a16:creationId xmlns:a16="http://schemas.microsoft.com/office/drawing/2014/main" id="{701F3D1D-EF69-4834-B32E-C7CAF8E86FCF}"/>
              </a:ext>
            </a:extLst>
          </p:cNvPr>
          <p:cNvSpPr>
            <a:spLocks xmlns:a="http://schemas.openxmlformats.org/drawingml/2006/main" noGrp="1"/>
          </p:cNvSpPr>
          <p:nvPr/>
        </p:nvSpPr>
        <p:spPr>
          <a:xfrm xmlns:a="http://schemas.openxmlformats.org/drawingml/2006/main">
            <a:off x="628650" y="2638425"/>
            <a:ext cx="10763250" cy="19050"/>
          </a:xfrm>
          <a:prstGeom xmlns:a="http://schemas.openxmlformats.org/drawingml/2006/main" prst="rect">
            <a:avLst/>
          </a:prstGeom>
          <a:solidFill xmlns:a="http://schemas.openxmlformats.org/drawingml/2006/main">
            <a:srgbClr val="C8C3B7"/>
          </a:solidFill>
          <a:ln xmlns:a="http://schemas.openxmlformats.org/drawingml/2006/main" w="0">
            <a:solidFill>
              <a:srgbClr val="C8C3B7"/>
            </a:solidFill>
          </a:ln>
        </p:spPr>
      </p:sp>
      <p:sp>
        <p:nvSpPr>
          <p:cNvPr id="11" name="">
            <a:extLst xmlns:a="http://schemas.openxmlformats.org/drawingml/2006/main">
              <a:ext uri="{FF2B5EF4-FFF2-40B4-BE49-F238E27FC236}">
                <a16:creationId xmlns:a16="http://schemas.microsoft.com/office/drawing/2014/main" id="{93EC89AF-190A-48A9-965C-F187938D9D09}"/>
              </a:ext>
            </a:extLst>
          </p:cNvPr>
          <p:cNvSpPr>
            <a:spLocks xmlns:a="http://schemas.openxmlformats.org/drawingml/2006/main" noGrp="1"/>
          </p:cNvSpPr>
          <p:nvPr/>
        </p:nvSpPr>
        <p:spPr>
          <a:xfrm xmlns:a="http://schemas.openxmlformats.org/drawingml/2006/main">
            <a:off x="628650" y="3000375"/>
            <a:ext cx="4810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838"/>
          </a:bodyPr>
          <a:lstStyle xmlns:a="http://schemas.openxmlformats.org/drawingml/2006/main"/>
          <a:p xmlns:a="http://schemas.openxmlformats.org/drawingml/2006/main">
            <a:pPr>
              <a:defRPr sz="1650" b="1">
                <a:solidFill>
                  <a:srgbClr val="17201C"/>
                </a:solidFill>
                <a:latin typeface="Arial"/>
                <a:ea typeface="Arial"/>
                <a:cs typeface="Arial"/>
              </a:defRPr>
            </a:pPr>
            <a:r>
              <a:rPr sz="1650" b="1">
                <a:solidFill>
                  <a:srgbClr val="17201C"/>
                </a:solidFill>
                <a:latin typeface="Arial"/>
                <a:ea typeface="Arial"/>
                <a:cs typeface="Arial"/>
              </a:rPr>
              <a:t>Reference periods differ: prices use 2023-2026 average; consumption, production, and electricity mix use 2023.</a:t>
            </a:r>
          </a:p>
        </p:txBody>
      </p:sp>
      <p:sp>
        <p:nvSpPr>
          <p:cNvPr id="12" name="">
            <a:extLst xmlns:a="http://schemas.openxmlformats.org/drawingml/2006/main">
              <a:ext uri="{FF2B5EF4-FFF2-40B4-BE49-F238E27FC236}">
                <a16:creationId xmlns:a16="http://schemas.microsoft.com/office/drawing/2014/main" id="{93A90EE0-3BC1-4F0A-B74C-F2937C4C0DDB}"/>
              </a:ext>
            </a:extLst>
          </p:cNvPr>
          <p:cNvSpPr>
            <a:spLocks xmlns:a="http://schemas.openxmlformats.org/drawingml/2006/main" noGrp="1"/>
          </p:cNvSpPr>
          <p:nvPr/>
        </p:nvSpPr>
        <p:spPr>
          <a:xfrm xmlns:a="http://schemas.openxmlformats.org/drawingml/2006/main">
            <a:off x="628650" y="4000500"/>
            <a:ext cx="4857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Observed ranges: household price 0.006-0.414 USD/kWh; non-fossil share 0.9-100.0%; consumption 0.231-169.459 EJ; balance gap -31.0 to +35.5 EJ.</a:t>
            </a:r>
          </a:p>
        </p:txBody>
      </p:sp>
      <p:sp>
        <p:nvSpPr>
          <p:cNvPr id="13" name="">
            <a:extLst xmlns:a="http://schemas.openxmlformats.org/drawingml/2006/main">
              <a:ext uri="{FF2B5EF4-FFF2-40B4-BE49-F238E27FC236}">
                <a16:creationId xmlns:a16="http://schemas.microsoft.com/office/drawing/2014/main" id="{F1B8702F-4649-4F3C-A2C4-55502DBF9200}"/>
              </a:ext>
            </a:extLst>
          </p:cNvPr>
          <p:cNvSpPr>
            <a:spLocks xmlns:a="http://schemas.openxmlformats.org/drawingml/2006/main" noGrp="1"/>
          </p:cNvSpPr>
          <p:nvPr/>
        </p:nvSpPr>
        <p:spPr>
          <a:xfrm xmlns:a="http://schemas.openxmlformats.org/drawingml/2006/main">
            <a:off x="628650" y="565785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Complete-case correlations range from r=-0.138 to 0.425 with n=43-45. They describe association only.</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e56f99768414ad7"/>
          <a:stretch xmlns:a="http://schemas.openxmlformats.org/drawingml/2006/main"/>
        </p:blipFill>
        <p:spPr>
          <a:xfrm xmlns:a="http://schemas.openxmlformats.org/drawingml/2006/main">
            <a:off x="5905500" y="3144489"/>
            <a:ext cx="5505450" cy="2740722"/>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9CE5637-402F-4F96-9A7A-3FAAA6CFC1F8}"/>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16" name="">
            <a:extLst xmlns:a="http://schemas.openxmlformats.org/drawingml/2006/main">
              <a:ext uri="{FF2B5EF4-FFF2-40B4-BE49-F238E27FC236}">
                <a16:creationId xmlns:a16="http://schemas.microsoft.com/office/drawing/2014/main" id="{8168BF13-9614-4B5D-9743-772EB6B0F602}"/>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02</a:t>
            </a:r>
          </a:p>
        </p:txBody>
      </p:sp>
    </p:spTree>
    <p:extLst>
      <p:ext uri="{BB962C8B-B14F-4D97-AF65-F5344CB8AC3E}">
        <p14:creationId xmlns:p14="http://schemas.microsoft.com/office/powerpoint/2010/main" val="294164429"/>
      </p:ext>
    </p:extLst>
  </p:cSld>
</p:sld>
</file>

<file path=ppt/slides/slide3.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9A8042-3E94-453E-B444-E45F59E6228D}"/>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Price and generation contrasts</a:t>
            </a:r>
          </a:p>
        </p:txBody>
      </p:sp>
      <p:sp>
        <p:nvSpPr>
          <p:cNvPr id="2" name="">
            <a:extLst xmlns:a="http://schemas.openxmlformats.org/drawingml/2006/main">
              <a:ext uri="{FF2B5EF4-FFF2-40B4-BE49-F238E27FC236}">
                <a16:creationId xmlns:a16="http://schemas.microsoft.com/office/drawing/2014/main" id="{CCAFD882-2E3B-477E-A97B-48EBCDC2B7CD}"/>
              </a:ext>
            </a:extLst>
          </p:cNvPr>
          <p:cNvSpPr>
            <a:spLocks xmlns:a="http://schemas.openxmlformats.org/drawingml/2006/main" noGrp="1"/>
          </p:cNvSpPr>
          <p:nvPr/>
        </p:nvSpPr>
        <p:spPr>
          <a:xfrm xmlns:a="http://schemas.openxmlformats.org/drawingml/2006/main">
            <a:off x="628650" y="12001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defRPr sz="1875" b="1">
                <a:solidFill>
                  <a:srgbClr val="087F5B"/>
                </a:solidFill>
                <a:latin typeface="Arial"/>
                <a:ea typeface="Arial"/>
                <a:cs typeface="Arial"/>
              </a:defRPr>
            </a:pPr>
            <a:r>
              <a:rPr sz="1875" b="1">
                <a:solidFill>
                  <a:srgbClr val="087F5B"/>
                </a:solidFill>
                <a:latin typeface="Arial"/>
                <a:ea typeface="Arial"/>
                <a:cs typeface="Arial"/>
              </a:rPr>
              <a:t>European price peak</a:t>
            </a:r>
          </a:p>
        </p:txBody>
      </p:sp>
      <p:sp>
        <p:nvSpPr>
          <p:cNvPr id="3" name="">
            <a:extLst xmlns:a="http://schemas.openxmlformats.org/drawingml/2006/main">
              <a:ext uri="{FF2B5EF4-FFF2-40B4-BE49-F238E27FC236}">
                <a16:creationId xmlns:a16="http://schemas.microsoft.com/office/drawing/2014/main" id="{ABE06306-B209-4EA0-A056-E609000C0BBC}"/>
              </a:ext>
            </a:extLst>
          </p:cNvPr>
          <p:cNvSpPr>
            <a:spLocks xmlns:a="http://schemas.openxmlformats.org/drawingml/2006/main" noGrp="1"/>
          </p:cNvSpPr>
          <p:nvPr/>
        </p:nvSpPr>
        <p:spPr>
          <a:xfrm xmlns:a="http://schemas.openxmlformats.org/drawingml/2006/main">
            <a:off x="628650" y="1619250"/>
            <a:ext cx="4333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17201C"/>
                </a:solidFill>
                <a:latin typeface="Arial"/>
                <a:ea typeface="Arial"/>
                <a:cs typeface="Arial"/>
              </a:defRPr>
            </a:pPr>
            <a:r>
              <a:rPr sz="1650" b="0">
                <a:solidFill>
                  <a:srgbClr val="17201C"/>
                </a:solidFill>
                <a:latin typeface="Arial"/>
                <a:ea typeface="Arial"/>
                <a:cs typeface="Arial"/>
              </a:rPr>
              <a:t>Italy leads household and business prices at $0.414 and $0.411 per kWh. Germany and Belgium each report $0.406 household prices.</a:t>
            </a:r>
          </a:p>
        </p:txBody>
      </p:sp>
      <p:sp>
        <p:nvSpPr>
          <p:cNvPr id="4" name="">
            <a:extLst xmlns:a="http://schemas.openxmlformats.org/drawingml/2006/main">
              <a:ext uri="{FF2B5EF4-FFF2-40B4-BE49-F238E27FC236}">
                <a16:creationId xmlns:a16="http://schemas.microsoft.com/office/drawing/2014/main" id="{568B0FAC-F8B1-4112-B41A-84454DFA4FFC}"/>
              </a:ext>
            </a:extLst>
          </p:cNvPr>
          <p:cNvSpPr>
            <a:spLocks xmlns:a="http://schemas.openxmlformats.org/drawingml/2006/main" noGrp="1"/>
          </p:cNvSpPr>
          <p:nvPr/>
        </p:nvSpPr>
        <p:spPr>
          <a:xfrm xmlns:a="http://schemas.openxmlformats.org/drawingml/2006/main">
            <a:off x="628650" y="3486150"/>
            <a:ext cx="4333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333"/>
          </a:bodyPr>
          <a:lstStyle xmlns:a="http://schemas.openxmlformats.org/drawingml/2006/main"/>
          <a:p xmlns:a="http://schemas.openxmlformats.org/drawingml/2006/main">
            <a:pPr>
              <a:defRPr sz="1875" b="1">
                <a:solidFill>
                  <a:srgbClr val="27779B"/>
                </a:solidFill>
                <a:latin typeface="Arial"/>
                <a:ea typeface="Arial"/>
                <a:cs typeface="Arial"/>
              </a:defRPr>
            </a:pPr>
            <a:r>
              <a:rPr sz="1875" b="1">
                <a:solidFill>
                  <a:srgbClr val="27779B"/>
                </a:solidFill>
                <a:latin typeface="Arial"/>
                <a:ea typeface="Arial"/>
                <a:cs typeface="Arial"/>
              </a:rPr>
              <a:t>Low price does not imply the same generation structure</a:t>
            </a:r>
          </a:p>
        </p:txBody>
      </p:sp>
      <p:sp>
        <p:nvSpPr>
          <p:cNvPr id="5" name="">
            <a:extLst xmlns:a="http://schemas.openxmlformats.org/drawingml/2006/main">
              <a:ext uri="{FF2B5EF4-FFF2-40B4-BE49-F238E27FC236}">
                <a16:creationId xmlns:a16="http://schemas.microsoft.com/office/drawing/2014/main" id="{5A1130A8-A1AC-4EAE-83B7-85EE9DD04E13}"/>
              </a:ext>
            </a:extLst>
          </p:cNvPr>
          <p:cNvSpPr>
            <a:spLocks xmlns:a="http://schemas.openxmlformats.org/drawingml/2006/main" noGrp="1"/>
          </p:cNvSpPr>
          <p:nvPr/>
        </p:nvSpPr>
        <p:spPr>
          <a:xfrm xmlns:a="http://schemas.openxmlformats.org/drawingml/2006/main">
            <a:off x="628650" y="4171950"/>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17201C"/>
                </a:solidFill>
                <a:latin typeface="Arial"/>
                <a:ea typeface="Arial"/>
                <a:cs typeface="Arial"/>
              </a:defRPr>
            </a:pPr>
            <a:r>
              <a:rPr sz="1650" b="1">
                <a:solidFill>
                  <a:srgbClr val="17201C"/>
                </a:solidFill>
                <a:latin typeface="Arial"/>
                <a:ea typeface="Arial"/>
                <a:cs typeface="Arial"/>
              </a:rPr>
              <a:t>Ethiopia: $0.006, 100.0% non-fossil</a:t>
            </a:r>
          </a:p>
          <a:p xmlns:a="http://schemas.openxmlformats.org/drawingml/2006/main">
            <a:pPr>
              <a:defRPr sz="1650" b="1">
                <a:solidFill>
                  <a:srgbClr val="17201C"/>
                </a:solidFill>
                <a:latin typeface="Arial"/>
                <a:ea typeface="Arial"/>
                <a:cs typeface="Arial"/>
              </a:defRPr>
            </a:pPr>
            <a:r>
              <a:rPr sz="1650" b="1">
                <a:solidFill>
                  <a:srgbClr val="17201C"/>
                </a:solidFill>
                <a:latin typeface="Arial"/>
                <a:ea typeface="Arial"/>
                <a:cs typeface="Arial"/>
              </a:rPr>
              <a:t>Norway: $0.165, 98.5% non-fossil</a:t>
            </a:r>
          </a:p>
          <a:p xmlns:a="http://schemas.openxmlformats.org/drawingml/2006/main">
            <a:pPr>
              <a:defRPr sz="1650" b="1">
                <a:solidFill>
                  <a:srgbClr val="17201C"/>
                </a:solidFill>
                <a:latin typeface="Arial"/>
                <a:ea typeface="Arial"/>
                <a:cs typeface="Arial"/>
              </a:defRPr>
            </a:pPr>
            <a:r>
              <a:rPr sz="1650" b="1">
                <a:solidFill>
                  <a:srgbClr val="17201C"/>
                </a:solidFill>
                <a:latin typeface="Arial"/>
                <a:ea typeface="Arial"/>
                <a:cs typeface="Arial"/>
              </a:rPr>
              <a:t>Algeria: $0.041, 0.9% non-fossil</a:t>
            </a:r>
          </a:p>
        </p:txBody>
      </p:sp>
      <p:sp>
        <p:nvSpPr>
          <p:cNvPr id="6" name="">
            <a:extLst xmlns:a="http://schemas.openxmlformats.org/drawingml/2006/main">
              <a:ext uri="{FF2B5EF4-FFF2-40B4-BE49-F238E27FC236}">
                <a16:creationId xmlns:a16="http://schemas.microsoft.com/office/drawing/2014/main" id="{64D71FD1-4E6D-41FB-8419-B454ABC13C80}"/>
              </a:ext>
            </a:extLst>
          </p:cNvPr>
          <p:cNvSpPr>
            <a:spLocks xmlns:a="http://schemas.openxmlformats.org/drawingml/2006/main" noGrp="1"/>
          </p:cNvSpPr>
          <p:nvPr/>
        </p:nvSpPr>
        <p:spPr>
          <a:xfrm xmlns:a="http://schemas.openxmlformats.org/drawingml/2006/main">
            <a:off x="628650" y="571500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1425" b="0">
                <a:solidFill>
                  <a:srgbClr val="59645D"/>
                </a:solidFill>
                <a:latin typeface="Arial"/>
                <a:ea typeface="Arial"/>
                <a:cs typeface="Arial"/>
              </a:defRPr>
            </a:pPr>
            <a:r>
              <a:rPr sz="1425" b="0">
                <a:solidFill>
                  <a:srgbClr val="59645D"/>
                </a:solidFill>
                <a:latin typeface="Arial"/>
                <a:ea typeface="Arial"/>
                <a:cs typeface="Arial"/>
              </a:rPr>
              <a:t>Tariff structure, contracts, and local grid conditions require separate checks.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00c9410e544f18"/>
          <a:stretch xmlns:a="http://schemas.openxmlformats.org/drawingml/2006/main"/>
        </p:blipFill>
        <p:spPr>
          <a:xfrm xmlns:a="http://schemas.openxmlformats.org/drawingml/2006/main">
            <a:off x="6810275" y="1104900"/>
            <a:ext cx="3238700" cy="223837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5e24f4d5d34640"/>
          <a:stretch xmlns:a="http://schemas.openxmlformats.org/drawingml/2006/main"/>
        </p:blipFill>
        <p:spPr>
          <a:xfrm xmlns:a="http://schemas.openxmlformats.org/drawingml/2006/main">
            <a:off x="6810275" y="3657600"/>
            <a:ext cx="3238700" cy="2238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5DAED06-D818-4BE8-8806-A8288B6E9FE5}"/>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10" name="">
            <a:extLst xmlns:a="http://schemas.openxmlformats.org/drawingml/2006/main">
              <a:ext uri="{FF2B5EF4-FFF2-40B4-BE49-F238E27FC236}">
                <a16:creationId xmlns:a16="http://schemas.microsoft.com/office/drawing/2014/main" id="{1E9E9697-A383-493C-BCF2-EF637D24F9E7}"/>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03</a:t>
            </a:r>
          </a:p>
        </p:txBody>
      </p:sp>
    </p:spTree>
    <p:extLst>
      <p:ext uri="{BB962C8B-B14F-4D97-AF65-F5344CB8AC3E}">
        <p14:creationId xmlns:p14="http://schemas.microsoft.com/office/powerpoint/2010/main" val="1719478673"/>
      </p:ext>
    </p:extLst>
  </p:cSld>
</p:sld>
</file>

<file path=ppt/slides/slide4.xml><?xml version="1.0" encoding="utf-8"?>
<p:sld xmlns:p="http://schemas.openxmlformats.org/presentationml/2006/main">
  <p:cSld>
    <p:bg>
      <p:bgPr>
        <a:solidFill xmlns:a="http://schemas.openxmlformats.org/drawingml/2006/main">
          <a:srgbClr val="07131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D59F938-E8BA-47EF-A9E5-CBD0730B250A}"/>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Consumption concentration</a:t>
            </a:r>
          </a:p>
        </p:txBody>
      </p:sp>
      <p:sp>
        <p:nvSpPr>
          <p:cNvPr id="2" name="">
            <a:extLst xmlns:a="http://schemas.openxmlformats.org/drawingml/2006/main">
              <a:ext uri="{FF2B5EF4-FFF2-40B4-BE49-F238E27FC236}">
                <a16:creationId xmlns:a16="http://schemas.microsoft.com/office/drawing/2014/main" id="{80628F42-CB8A-48E8-9306-514CA293EF38}"/>
              </a:ext>
            </a:extLst>
          </p:cNvPr>
          <p:cNvSpPr>
            <a:spLocks xmlns:a="http://schemas.openxmlformats.org/drawingml/2006/main" noGrp="1"/>
          </p:cNvSpPr>
          <p:nvPr/>
        </p:nvSpPr>
        <p:spPr>
          <a:xfrm xmlns:a="http://schemas.openxmlformats.org/drawingml/2006/main">
            <a:off x="666750" y="125730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75DCBA"/>
                </a:solidFill>
                <a:latin typeface="Arial"/>
                <a:ea typeface="Arial"/>
                <a:cs typeface="Arial"/>
              </a:defRPr>
            </a:pPr>
            <a:r>
              <a:rPr sz="2925" b="1">
                <a:solidFill>
                  <a:srgbClr val="75DCBA"/>
                </a:solidFill>
                <a:latin typeface="Arial"/>
                <a:ea typeface="Arial"/>
                <a:cs typeface="Arial"/>
              </a:rPr>
              <a:t>31.1%</a:t>
            </a:r>
          </a:p>
        </p:txBody>
      </p:sp>
      <p:sp>
        <p:nvSpPr>
          <p:cNvPr id="3" name="">
            <a:extLst xmlns:a="http://schemas.openxmlformats.org/drawingml/2006/main">
              <a:ext uri="{FF2B5EF4-FFF2-40B4-BE49-F238E27FC236}">
                <a16:creationId xmlns:a16="http://schemas.microsoft.com/office/drawing/2014/main" id="{0C6A6B96-CA84-40A2-A60B-AE173D35ABC7}"/>
              </a:ext>
            </a:extLst>
          </p:cNvPr>
          <p:cNvSpPr>
            <a:spLocks xmlns:a="http://schemas.openxmlformats.org/drawingml/2006/main" noGrp="1"/>
          </p:cNvSpPr>
          <p:nvPr/>
        </p:nvSpPr>
        <p:spPr>
          <a:xfrm xmlns:a="http://schemas.openxmlformats.org/drawingml/2006/main">
            <a:off x="666750" y="18002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D8E5DF"/>
                </a:solidFill>
                <a:latin typeface="Arial"/>
                <a:ea typeface="Arial"/>
                <a:cs typeface="Arial"/>
              </a:defRPr>
            </a:pPr>
            <a:r>
              <a:rPr sz="1350" b="0">
                <a:solidFill>
                  <a:srgbClr val="D8E5DF"/>
                </a:solidFill>
                <a:latin typeface="Arial"/>
                <a:ea typeface="Arial"/>
                <a:cs typeface="Arial"/>
              </a:rPr>
              <a:t>China</a:t>
            </a:r>
          </a:p>
        </p:txBody>
      </p:sp>
      <p:sp>
        <p:nvSpPr>
          <p:cNvPr id="4" name="">
            <a:extLst xmlns:a="http://schemas.openxmlformats.org/drawingml/2006/main">
              <a:ext uri="{FF2B5EF4-FFF2-40B4-BE49-F238E27FC236}">
                <a16:creationId xmlns:a16="http://schemas.microsoft.com/office/drawing/2014/main" id="{7F344E87-6304-4F06-ACB5-2238AB2F2BF5}"/>
              </a:ext>
            </a:extLst>
          </p:cNvPr>
          <p:cNvSpPr>
            <a:spLocks xmlns:a="http://schemas.openxmlformats.org/drawingml/2006/main" noGrp="1"/>
          </p:cNvSpPr>
          <p:nvPr/>
        </p:nvSpPr>
        <p:spPr>
          <a:xfrm xmlns:a="http://schemas.openxmlformats.org/drawingml/2006/main">
            <a:off x="2971800" y="125730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75DCBA"/>
                </a:solidFill>
                <a:latin typeface="Arial"/>
                <a:ea typeface="Arial"/>
                <a:cs typeface="Arial"/>
              </a:defRPr>
            </a:pPr>
            <a:r>
              <a:rPr sz="2925" b="1">
                <a:solidFill>
                  <a:srgbClr val="75DCBA"/>
                </a:solidFill>
                <a:latin typeface="Arial"/>
                <a:ea typeface="Arial"/>
                <a:cs typeface="Arial"/>
              </a:rPr>
              <a:t>17.3%</a:t>
            </a:r>
          </a:p>
        </p:txBody>
      </p:sp>
      <p:sp>
        <p:nvSpPr>
          <p:cNvPr id="5" name="">
            <a:extLst xmlns:a="http://schemas.openxmlformats.org/drawingml/2006/main">
              <a:ext uri="{FF2B5EF4-FFF2-40B4-BE49-F238E27FC236}">
                <a16:creationId xmlns:a16="http://schemas.microsoft.com/office/drawing/2014/main" id="{4CC56C45-F6CF-43FE-A084-BF48CF679BCE}"/>
              </a:ext>
            </a:extLst>
          </p:cNvPr>
          <p:cNvSpPr>
            <a:spLocks xmlns:a="http://schemas.openxmlformats.org/drawingml/2006/main" noGrp="1"/>
          </p:cNvSpPr>
          <p:nvPr/>
        </p:nvSpPr>
        <p:spPr>
          <a:xfrm xmlns:a="http://schemas.openxmlformats.org/drawingml/2006/main">
            <a:off x="2971800" y="18002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D8E5DF"/>
                </a:solidFill>
                <a:latin typeface="Arial"/>
                <a:ea typeface="Arial"/>
                <a:cs typeface="Arial"/>
              </a:defRPr>
            </a:pPr>
            <a:r>
              <a:rPr sz="1350" b="0">
                <a:solidFill>
                  <a:srgbClr val="D8E5DF"/>
                </a:solidFill>
                <a:latin typeface="Arial"/>
                <a:ea typeface="Arial"/>
                <a:cs typeface="Arial"/>
              </a:rPr>
              <a:t>United States</a:t>
            </a:r>
          </a:p>
        </p:txBody>
      </p:sp>
      <p:sp>
        <p:nvSpPr>
          <p:cNvPr id="6" name="">
            <a:extLst xmlns:a="http://schemas.openxmlformats.org/drawingml/2006/main">
              <a:ext uri="{FF2B5EF4-FFF2-40B4-BE49-F238E27FC236}">
                <a16:creationId xmlns:a16="http://schemas.microsoft.com/office/drawing/2014/main" id="{DEE58F43-A74F-43C2-A8D5-2C324FABD6F7}"/>
              </a:ext>
            </a:extLst>
          </p:cNvPr>
          <p:cNvSpPr>
            <a:spLocks xmlns:a="http://schemas.openxmlformats.org/drawingml/2006/main" noGrp="1"/>
          </p:cNvSpPr>
          <p:nvPr/>
        </p:nvSpPr>
        <p:spPr>
          <a:xfrm xmlns:a="http://schemas.openxmlformats.org/drawingml/2006/main">
            <a:off x="666750" y="2667000"/>
            <a:ext cx="440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48.4%</a:t>
            </a:r>
          </a:p>
        </p:txBody>
      </p:sp>
      <p:sp>
        <p:nvSpPr>
          <p:cNvPr id="7" name="">
            <a:extLst xmlns:a="http://schemas.openxmlformats.org/drawingml/2006/main">
              <a:ext uri="{FF2B5EF4-FFF2-40B4-BE49-F238E27FC236}">
                <a16:creationId xmlns:a16="http://schemas.microsoft.com/office/drawing/2014/main" id="{A7170C9E-27EF-4C04-9E99-8D59B46C8959}"/>
              </a:ext>
            </a:extLst>
          </p:cNvPr>
          <p:cNvSpPr>
            <a:spLocks xmlns:a="http://schemas.openxmlformats.org/drawingml/2006/main" noGrp="1"/>
          </p:cNvSpPr>
          <p:nvPr/>
        </p:nvSpPr>
        <p:spPr>
          <a:xfrm xmlns:a="http://schemas.openxmlformats.org/drawingml/2006/main">
            <a:off x="666750" y="3209925"/>
            <a:ext cx="440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D8E5DF"/>
                </a:solidFill>
                <a:latin typeface="Arial"/>
                <a:ea typeface="Arial"/>
                <a:cs typeface="Arial"/>
              </a:defRPr>
            </a:pPr>
            <a:r>
              <a:rPr sz="1350" b="0">
                <a:solidFill>
                  <a:srgbClr val="D8E5DF"/>
                </a:solidFill>
                <a:latin typeface="Arial"/>
                <a:ea typeface="Arial"/>
                <a:cs typeface="Arial"/>
              </a:rPr>
              <a:t>China plus United States</a:t>
            </a:r>
          </a:p>
        </p:txBody>
      </p:sp>
      <p:sp>
        <p:nvSpPr>
          <p:cNvPr id="8" name="">
            <a:extLst xmlns:a="http://schemas.openxmlformats.org/drawingml/2006/main">
              <a:ext uri="{FF2B5EF4-FFF2-40B4-BE49-F238E27FC236}">
                <a16:creationId xmlns:a16="http://schemas.microsoft.com/office/drawing/2014/main" id="{E7D0E26E-54E5-4326-B87B-9493303A5BDA}"/>
              </a:ext>
            </a:extLst>
          </p:cNvPr>
          <p:cNvSpPr>
            <a:spLocks xmlns:a="http://schemas.openxmlformats.org/drawingml/2006/main" noGrp="1"/>
          </p:cNvSpPr>
          <p:nvPr/>
        </p:nvSpPr>
        <p:spPr>
          <a:xfrm xmlns:a="http://schemas.openxmlformats.org/drawingml/2006/main">
            <a:off x="666750" y="4095750"/>
            <a:ext cx="440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64.6%</a:t>
            </a:r>
          </a:p>
        </p:txBody>
      </p:sp>
      <p:sp>
        <p:nvSpPr>
          <p:cNvPr id="9" name="">
            <a:extLst xmlns:a="http://schemas.openxmlformats.org/drawingml/2006/main">
              <a:ext uri="{FF2B5EF4-FFF2-40B4-BE49-F238E27FC236}">
                <a16:creationId xmlns:a16="http://schemas.microsoft.com/office/drawing/2014/main" id="{46A1C83B-EBAE-4140-84D3-46D1EE6BC7AD}"/>
              </a:ext>
            </a:extLst>
          </p:cNvPr>
          <p:cNvSpPr>
            <a:spLocks xmlns:a="http://schemas.openxmlformats.org/drawingml/2006/main" noGrp="1"/>
          </p:cNvSpPr>
          <p:nvPr/>
        </p:nvSpPr>
        <p:spPr>
          <a:xfrm xmlns:a="http://schemas.openxmlformats.org/drawingml/2006/main">
            <a:off x="666750" y="4638675"/>
            <a:ext cx="4400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D8E5DF"/>
                </a:solidFill>
                <a:latin typeface="Arial"/>
                <a:ea typeface="Arial"/>
                <a:cs typeface="Arial"/>
              </a:defRPr>
            </a:pPr>
            <a:r>
              <a:rPr sz="1350" b="0">
                <a:solidFill>
                  <a:srgbClr val="D8E5DF"/>
                </a:solidFill>
                <a:latin typeface="Arial"/>
                <a:ea typeface="Arial"/>
                <a:cs typeface="Arial"/>
              </a:rPr>
              <a:t>top five markets</a:t>
            </a:r>
          </a:p>
        </p:txBody>
      </p:sp>
      <p:sp>
        <p:nvSpPr>
          <p:cNvPr id="10" name="">
            <a:extLst xmlns:a="http://schemas.openxmlformats.org/drawingml/2006/main">
              <a:ext uri="{FF2B5EF4-FFF2-40B4-BE49-F238E27FC236}">
                <a16:creationId xmlns:a16="http://schemas.microsoft.com/office/drawing/2014/main" id="{F7B325BE-6C84-47D7-99D7-BDAFE9AABF4F}"/>
              </a:ext>
            </a:extLst>
          </p:cNvPr>
          <p:cNvSpPr>
            <a:spLocks xmlns:a="http://schemas.openxmlformats.org/drawingml/2006/main" noGrp="1"/>
          </p:cNvSpPr>
          <p:nvPr/>
        </p:nvSpPr>
        <p:spPr>
          <a:xfrm xmlns:a="http://schemas.openxmlformats.org/drawingml/2006/main">
            <a:off x="666750" y="5476875"/>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D8E5DF"/>
                </a:solidFill>
                <a:latin typeface="Arial"/>
                <a:ea typeface="Arial"/>
                <a:cs typeface="Arial"/>
              </a:defRPr>
            </a:pPr>
            <a:r>
              <a:rPr sz="1500" b="0">
                <a:solidFill>
                  <a:srgbClr val="D8E5DF"/>
                </a:solidFill>
                <a:latin typeface="Arial"/>
                <a:ea typeface="Arial"/>
                <a:cs typeface="Arial"/>
              </a:rPr>
              <a:t>Shares use 545.0 EJ reported across complete records. A portfolio with equal country counts can still have a highly concentrated energy footprint.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09128fa6fea4a82"/>
          <a:stretch xmlns:a="http://schemas.openxmlformats.org/drawingml/2006/main"/>
        </p:blipFill>
        <p:spPr>
          <a:xfrm xmlns:a="http://schemas.openxmlformats.org/drawingml/2006/main">
            <a:off x="6946259" y="1123950"/>
            <a:ext cx="3252482" cy="22479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99eca56aebc424a"/>
          <a:stretch xmlns:a="http://schemas.openxmlformats.org/drawingml/2006/main"/>
        </p:blipFill>
        <p:spPr>
          <a:xfrm xmlns:a="http://schemas.openxmlformats.org/drawingml/2006/main">
            <a:off x="6275114" y="3638550"/>
            <a:ext cx="4594772" cy="23241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D925FC0-20B7-4BA1-A959-5FFBA48FAD9F}"/>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INSIGHTS AND DECISION USE</a:t>
            </a:r>
          </a:p>
        </p:txBody>
      </p:sp>
      <p:sp>
        <p:nvSpPr>
          <p:cNvPr id="14" name="">
            <a:extLst xmlns:a="http://schemas.openxmlformats.org/drawingml/2006/main">
              <a:ext uri="{FF2B5EF4-FFF2-40B4-BE49-F238E27FC236}">
                <a16:creationId xmlns:a16="http://schemas.microsoft.com/office/drawing/2014/main" id="{C44D8F8E-65FE-4F7A-91DB-1569105699FA}"/>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D8E5DF"/>
                </a:solidFill>
                <a:latin typeface="Arial"/>
                <a:ea typeface="Arial"/>
                <a:cs typeface="Arial"/>
              </a:defRPr>
            </a:pPr>
            <a:r>
              <a:rPr sz="900" b="1">
                <a:solidFill>
                  <a:srgbClr val="D8E5DF"/>
                </a:solidFill>
                <a:latin typeface="Arial"/>
                <a:ea typeface="Arial"/>
                <a:cs typeface="Arial"/>
              </a:rPr>
              <a:t>04</a:t>
            </a:r>
          </a:p>
        </p:txBody>
      </p:sp>
    </p:spTree>
    <p:extLst>
      <p:ext uri="{BB962C8B-B14F-4D97-AF65-F5344CB8AC3E}">
        <p14:creationId xmlns:p14="http://schemas.microsoft.com/office/powerpoint/2010/main" val="344608454"/>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FB0CE40-6C18-4021-A1F3-6D902D2A55EC}"/>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Energy balance positions</a:t>
            </a:r>
          </a:p>
        </p:txBody>
      </p:sp>
      <p:sp>
        <p:nvSpPr>
          <p:cNvPr id="2" name="">
            <a:extLst xmlns:a="http://schemas.openxmlformats.org/drawingml/2006/main">
              <a:ext uri="{FF2B5EF4-FFF2-40B4-BE49-F238E27FC236}">
                <a16:creationId xmlns:a16="http://schemas.microsoft.com/office/drawing/2014/main" id="{EDEE34D6-D87B-4977-BDB7-93BAF2EA5B56}"/>
              </a:ext>
            </a:extLst>
          </p:cNvPr>
          <p:cNvSpPr>
            <a:spLocks xmlns:a="http://schemas.openxmlformats.org/drawingml/2006/main" noGrp="1"/>
          </p:cNvSpPr>
          <p:nvPr/>
        </p:nvSpPr>
        <p:spPr>
          <a:xfrm xmlns:a="http://schemas.openxmlformats.org/drawingml/2006/main">
            <a:off x="628650" y="112395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9"/>
          </a:bodyPr>
          <a:lstStyle xmlns:a="http://schemas.openxmlformats.org/drawingml/2006/main"/>
          <a:p xmlns:a="http://schemas.openxmlformats.org/drawingml/2006/main">
            <a:pPr>
              <a:defRPr sz="1650" b="1">
                <a:solidFill>
                  <a:srgbClr val="087F5B"/>
                </a:solidFill>
                <a:latin typeface="Arial"/>
                <a:ea typeface="Arial"/>
                <a:cs typeface="Arial"/>
              </a:defRPr>
            </a:pPr>
            <a:r>
              <a:rPr sz="1650" b="1">
                <a:solidFill>
                  <a:srgbClr val="087F5B"/>
                </a:solidFill>
                <a:latin typeface="Arial"/>
                <a:ea typeface="Arial"/>
                <a:cs typeface="Arial"/>
              </a:rPr>
              <a:t>Primary energy consumption minus total energy production</a:t>
            </a:r>
          </a:p>
        </p:txBody>
      </p:sp>
      <p:sp>
        <p:nvSpPr>
          <p:cNvPr id="3" name="">
            <a:extLst xmlns:a="http://schemas.openxmlformats.org/drawingml/2006/main">
              <a:ext uri="{FF2B5EF4-FFF2-40B4-BE49-F238E27FC236}">
                <a16:creationId xmlns:a16="http://schemas.microsoft.com/office/drawing/2014/main" id="{B253D60C-B4EC-4A72-A11C-AC8E134B9F95}"/>
              </a:ext>
            </a:extLst>
          </p:cNvPr>
          <p:cNvSpPr>
            <a:spLocks xmlns:a="http://schemas.openxmlformats.org/drawingml/2006/main" noGrp="1"/>
          </p:cNvSpPr>
          <p:nvPr/>
        </p:nvSpPr>
        <p:spPr>
          <a:xfrm xmlns:a="http://schemas.openxmlformats.org/drawingml/2006/main">
            <a:off x="666750" y="1857375"/>
            <a:ext cx="214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C9583C"/>
                </a:solidFill>
                <a:latin typeface="Arial"/>
                <a:ea typeface="Arial"/>
                <a:cs typeface="Arial"/>
              </a:defRPr>
            </a:pPr>
            <a:r>
              <a:rPr sz="2925" b="1">
                <a:solidFill>
                  <a:srgbClr val="C9583C"/>
                </a:solidFill>
                <a:latin typeface="Arial"/>
                <a:ea typeface="Arial"/>
                <a:cs typeface="Arial"/>
              </a:rPr>
              <a:t>+35.5 EJ</a:t>
            </a:r>
          </a:p>
        </p:txBody>
      </p:sp>
      <p:sp>
        <p:nvSpPr>
          <p:cNvPr id="4" name="">
            <a:extLst xmlns:a="http://schemas.openxmlformats.org/drawingml/2006/main">
              <a:ext uri="{FF2B5EF4-FFF2-40B4-BE49-F238E27FC236}">
                <a16:creationId xmlns:a16="http://schemas.microsoft.com/office/drawing/2014/main" id="{4740ACE5-3E11-4EAE-B69E-D8F209835103}"/>
              </a:ext>
            </a:extLst>
          </p:cNvPr>
          <p:cNvSpPr>
            <a:spLocks xmlns:a="http://schemas.openxmlformats.org/drawingml/2006/main" noGrp="1"/>
          </p:cNvSpPr>
          <p:nvPr/>
        </p:nvSpPr>
        <p:spPr>
          <a:xfrm xmlns:a="http://schemas.openxmlformats.org/drawingml/2006/main">
            <a:off x="666750" y="24003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China</a:t>
            </a:r>
          </a:p>
        </p:txBody>
      </p:sp>
      <p:sp>
        <p:nvSpPr>
          <p:cNvPr id="5" name="">
            <a:extLst xmlns:a="http://schemas.openxmlformats.org/drawingml/2006/main">
              <a:ext uri="{FF2B5EF4-FFF2-40B4-BE49-F238E27FC236}">
                <a16:creationId xmlns:a16="http://schemas.microsoft.com/office/drawing/2014/main" id="{075C30D4-6817-440F-BD7A-B1DA34C756DE}"/>
              </a:ext>
            </a:extLst>
          </p:cNvPr>
          <p:cNvSpPr>
            <a:spLocks xmlns:a="http://schemas.openxmlformats.org/drawingml/2006/main" noGrp="1"/>
          </p:cNvSpPr>
          <p:nvPr/>
        </p:nvSpPr>
        <p:spPr>
          <a:xfrm xmlns:a="http://schemas.openxmlformats.org/drawingml/2006/main">
            <a:off x="3000375" y="1857375"/>
            <a:ext cx="214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C9583C"/>
                </a:solidFill>
                <a:latin typeface="Arial"/>
                <a:ea typeface="Arial"/>
                <a:cs typeface="Arial"/>
              </a:defRPr>
            </a:pPr>
            <a:r>
              <a:rPr sz="2925" b="1">
                <a:solidFill>
                  <a:srgbClr val="C9583C"/>
                </a:solidFill>
                <a:latin typeface="Arial"/>
                <a:ea typeface="Arial"/>
                <a:cs typeface="Arial"/>
              </a:rPr>
              <a:t>+16.2 EJ</a:t>
            </a:r>
          </a:p>
        </p:txBody>
      </p:sp>
      <p:sp>
        <p:nvSpPr>
          <p:cNvPr id="6" name="">
            <a:extLst xmlns:a="http://schemas.openxmlformats.org/drawingml/2006/main">
              <a:ext uri="{FF2B5EF4-FFF2-40B4-BE49-F238E27FC236}">
                <a16:creationId xmlns:a16="http://schemas.microsoft.com/office/drawing/2014/main" id="{BE817E9F-9403-4357-AA8C-D0BC5DF0596E}"/>
              </a:ext>
            </a:extLst>
          </p:cNvPr>
          <p:cNvSpPr>
            <a:spLocks xmlns:a="http://schemas.openxmlformats.org/drawingml/2006/main" noGrp="1"/>
          </p:cNvSpPr>
          <p:nvPr/>
        </p:nvSpPr>
        <p:spPr>
          <a:xfrm xmlns:a="http://schemas.openxmlformats.org/drawingml/2006/main">
            <a:off x="3000375" y="2400300"/>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India</a:t>
            </a:r>
          </a:p>
        </p:txBody>
      </p:sp>
      <p:sp>
        <p:nvSpPr>
          <p:cNvPr id="7" name="">
            <a:extLst xmlns:a="http://schemas.openxmlformats.org/drawingml/2006/main">
              <a:ext uri="{FF2B5EF4-FFF2-40B4-BE49-F238E27FC236}">
                <a16:creationId xmlns:a16="http://schemas.microsoft.com/office/drawing/2014/main" id="{00952D44-F134-4565-9650-754D9B7CDD82}"/>
              </a:ext>
            </a:extLst>
          </p:cNvPr>
          <p:cNvSpPr>
            <a:spLocks xmlns:a="http://schemas.openxmlformats.org/drawingml/2006/main" noGrp="1"/>
          </p:cNvSpPr>
          <p:nvPr/>
        </p:nvSpPr>
        <p:spPr>
          <a:xfrm xmlns:a="http://schemas.openxmlformats.org/drawingml/2006/main">
            <a:off x="666750" y="3333750"/>
            <a:ext cx="214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27779B"/>
                </a:solidFill>
                <a:latin typeface="Arial"/>
                <a:ea typeface="Arial"/>
                <a:cs typeface="Arial"/>
              </a:defRPr>
            </a:pPr>
            <a:r>
              <a:rPr sz="2925" b="1">
                <a:solidFill>
                  <a:srgbClr val="27779B"/>
                </a:solidFill>
                <a:latin typeface="Arial"/>
                <a:ea typeface="Arial"/>
                <a:cs typeface="Arial"/>
              </a:rPr>
              <a:t>-31.0 EJ</a:t>
            </a:r>
          </a:p>
        </p:txBody>
      </p:sp>
      <p:sp>
        <p:nvSpPr>
          <p:cNvPr id="8" name="">
            <a:extLst xmlns:a="http://schemas.openxmlformats.org/drawingml/2006/main">
              <a:ext uri="{FF2B5EF4-FFF2-40B4-BE49-F238E27FC236}">
                <a16:creationId xmlns:a16="http://schemas.microsoft.com/office/drawing/2014/main" id="{34E1D019-DE6E-497E-978E-A1265C4DAB42}"/>
              </a:ext>
            </a:extLst>
          </p:cNvPr>
          <p:cNvSpPr>
            <a:spLocks xmlns:a="http://schemas.openxmlformats.org/drawingml/2006/main" noGrp="1"/>
          </p:cNvSpPr>
          <p:nvPr/>
        </p:nvSpPr>
        <p:spPr>
          <a:xfrm xmlns:a="http://schemas.openxmlformats.org/drawingml/2006/main">
            <a:off x="666750" y="38766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Russia</a:t>
            </a:r>
          </a:p>
        </p:txBody>
      </p:sp>
      <p:sp>
        <p:nvSpPr>
          <p:cNvPr id="9" name="">
            <a:extLst xmlns:a="http://schemas.openxmlformats.org/drawingml/2006/main">
              <a:ext uri="{FF2B5EF4-FFF2-40B4-BE49-F238E27FC236}">
                <a16:creationId xmlns:a16="http://schemas.microsoft.com/office/drawing/2014/main" id="{97FD6B61-E5A9-41E5-AE14-78CC4F9ED267}"/>
              </a:ext>
            </a:extLst>
          </p:cNvPr>
          <p:cNvSpPr>
            <a:spLocks xmlns:a="http://schemas.openxmlformats.org/drawingml/2006/main" noGrp="1"/>
          </p:cNvSpPr>
          <p:nvPr/>
        </p:nvSpPr>
        <p:spPr>
          <a:xfrm xmlns:a="http://schemas.openxmlformats.org/drawingml/2006/main">
            <a:off x="3000375" y="3333750"/>
            <a:ext cx="214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72"/>
          </a:bodyPr>
          <a:lstStyle xmlns:a="http://schemas.openxmlformats.org/drawingml/2006/main"/>
          <a:p xmlns:a="http://schemas.openxmlformats.org/drawingml/2006/main">
            <a:pPr>
              <a:defRPr sz="2925" b="1">
                <a:solidFill>
                  <a:srgbClr val="27779B"/>
                </a:solidFill>
                <a:latin typeface="Arial"/>
                <a:ea typeface="Arial"/>
                <a:cs typeface="Arial"/>
              </a:defRPr>
            </a:pPr>
            <a:r>
              <a:rPr sz="2925" b="1">
                <a:solidFill>
                  <a:srgbClr val="27779B"/>
                </a:solidFill>
                <a:latin typeface="Arial"/>
                <a:ea typeface="Arial"/>
                <a:cs typeface="Arial"/>
              </a:rPr>
              <a:t>-14.0 EJ</a:t>
            </a:r>
          </a:p>
        </p:txBody>
      </p:sp>
      <p:sp>
        <p:nvSpPr>
          <p:cNvPr id="10" name="">
            <a:extLst xmlns:a="http://schemas.openxmlformats.org/drawingml/2006/main">
              <a:ext uri="{FF2B5EF4-FFF2-40B4-BE49-F238E27FC236}">
                <a16:creationId xmlns:a16="http://schemas.microsoft.com/office/drawing/2014/main" id="{0DB1595B-C47B-42FE-B2E2-CC0744DD4312}"/>
              </a:ext>
            </a:extLst>
          </p:cNvPr>
          <p:cNvSpPr>
            <a:spLocks xmlns:a="http://schemas.openxmlformats.org/drawingml/2006/main" noGrp="1"/>
          </p:cNvSpPr>
          <p:nvPr/>
        </p:nvSpPr>
        <p:spPr>
          <a:xfrm xmlns:a="http://schemas.openxmlformats.org/drawingml/2006/main">
            <a:off x="3000375" y="3876675"/>
            <a:ext cx="214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59645D"/>
                </a:solidFill>
                <a:latin typeface="Arial"/>
                <a:ea typeface="Arial"/>
                <a:cs typeface="Arial"/>
              </a:defRPr>
            </a:pPr>
            <a:r>
              <a:rPr sz="1350" b="0">
                <a:solidFill>
                  <a:srgbClr val="59645D"/>
                </a:solidFill>
                <a:latin typeface="Arial"/>
                <a:ea typeface="Arial"/>
                <a:cs typeface="Arial"/>
              </a:rPr>
              <a:t>United States</a:t>
            </a:r>
          </a:p>
        </p:txBody>
      </p:sp>
      <p:sp>
        <p:nvSpPr>
          <p:cNvPr id="11" name="">
            <a:extLst xmlns:a="http://schemas.openxmlformats.org/drawingml/2006/main">
              <a:ext uri="{FF2B5EF4-FFF2-40B4-BE49-F238E27FC236}">
                <a16:creationId xmlns:a16="http://schemas.microsoft.com/office/drawing/2014/main" id="{070E4B5C-275B-4D2E-B5DB-6AE5C89E0012}"/>
              </a:ext>
            </a:extLst>
          </p:cNvPr>
          <p:cNvSpPr>
            <a:spLocks xmlns:a="http://schemas.openxmlformats.org/drawingml/2006/main" noGrp="1"/>
          </p:cNvSpPr>
          <p:nvPr/>
        </p:nvSpPr>
        <p:spPr>
          <a:xfrm xmlns:a="http://schemas.openxmlformats.org/drawingml/2006/main">
            <a:off x="666750" y="509587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812"/>
          </a:bodyPr>
          <a:lstStyle xmlns:a="http://schemas.openxmlformats.org/drawingml/2006/main"/>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Positive values indicate a consumption gap. Negative values indicate production above consumption. The measure does not observe actual trade flows.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0260a3f48704b51"/>
          <a:stretch xmlns:a="http://schemas.openxmlformats.org/drawingml/2006/main"/>
        </p:blipFill>
        <p:spPr>
          <a:xfrm xmlns:a="http://schemas.openxmlformats.org/drawingml/2006/main">
            <a:off x="6946259" y="1123950"/>
            <a:ext cx="3252482" cy="2247900"/>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cb04fbce94d49fb"/>
          <a:stretch xmlns:a="http://schemas.openxmlformats.org/drawingml/2006/main"/>
        </p:blipFill>
        <p:spPr>
          <a:xfrm xmlns:a="http://schemas.openxmlformats.org/drawingml/2006/main">
            <a:off x="6275114" y="3638550"/>
            <a:ext cx="4594772" cy="23241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0DF3740-C4E7-486C-84ED-FD62F35EBAED}"/>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15" name="">
            <a:extLst xmlns:a="http://schemas.openxmlformats.org/drawingml/2006/main">
              <a:ext uri="{FF2B5EF4-FFF2-40B4-BE49-F238E27FC236}">
                <a16:creationId xmlns:a16="http://schemas.microsoft.com/office/drawing/2014/main" id="{17AD8BF2-3FAC-47B0-AE1B-D4712F7CC63A}"/>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05</a:t>
            </a:r>
          </a:p>
        </p:txBody>
      </p:sp>
    </p:spTree>
    <p:extLst>
      <p:ext uri="{BB962C8B-B14F-4D97-AF65-F5344CB8AC3E}">
        <p14:creationId xmlns:p14="http://schemas.microsoft.com/office/powerpoint/2010/main" val="1834435134"/>
      </p:ext>
    </p:extLst>
  </p:cSld>
</p:sld>
</file>

<file path=ppt/slides/slide6.xml><?xml version="1.0" encoding="utf-8"?>
<p:sld xmlns:p="http://schemas.openxmlformats.org/presentationml/2006/main">
  <p:cSld>
    <p:bg>
      <p:bgPr>
        <a:solidFill xmlns:a="http://schemas.openxmlformats.org/drawingml/2006/main">
          <a:srgbClr val="F1EEE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4D37CE-B6A0-46A0-80B8-D92DAA7D1C99}"/>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Decision use and diligence shortlist</a:t>
            </a:r>
          </a:p>
        </p:txBody>
      </p:sp>
      <p:sp>
        <p:nvSpPr>
          <p:cNvPr id="2" name="">
            <a:extLst xmlns:a="http://schemas.openxmlformats.org/drawingml/2006/main">
              <a:ext uri="{FF2B5EF4-FFF2-40B4-BE49-F238E27FC236}">
                <a16:creationId xmlns:a16="http://schemas.microsoft.com/office/drawing/2014/main" id="{445C00E4-1C24-4C21-9586-F4F2D4BF18D5}"/>
              </a:ext>
            </a:extLst>
          </p:cNvPr>
          <p:cNvSpPr>
            <a:spLocks xmlns:a="http://schemas.openxmlformats.org/drawingml/2006/main" noGrp="1"/>
          </p:cNvSpPr>
          <p:nvPr/>
        </p:nvSpPr>
        <p:spPr>
          <a:xfrm xmlns:a="http://schemas.openxmlformats.org/drawingml/2006/main">
            <a:off x="628650" y="12573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087F5B"/>
                </a:solidFill>
                <a:latin typeface="Arial"/>
                <a:ea typeface="Arial"/>
                <a:cs typeface="Arial"/>
              </a:defRPr>
            </a:pPr>
            <a:r>
              <a:rPr sz="1875" b="1">
                <a:solidFill>
                  <a:srgbClr val="087F5B"/>
                </a:solidFill>
                <a:latin typeface="Arial"/>
                <a:ea typeface="Arial"/>
                <a:cs typeface="Arial"/>
              </a:rPr>
              <a:t>China, India, and United States</a:t>
            </a:r>
          </a:p>
        </p:txBody>
      </p:sp>
      <p:sp>
        <p:nvSpPr>
          <p:cNvPr id="3" name="">
            <a:extLst xmlns:a="http://schemas.openxmlformats.org/drawingml/2006/main">
              <a:ext uri="{FF2B5EF4-FFF2-40B4-BE49-F238E27FC236}">
                <a16:creationId xmlns:a16="http://schemas.microsoft.com/office/drawing/2014/main" id="{DF9D62B8-CC01-4059-8A43-3AA34E54AB24}"/>
              </a:ext>
            </a:extLst>
          </p:cNvPr>
          <p:cNvSpPr>
            <a:spLocks xmlns:a="http://schemas.openxmlformats.org/drawingml/2006/main" noGrp="1"/>
          </p:cNvSpPr>
          <p:nvPr/>
        </p:nvSpPr>
        <p:spPr>
          <a:xfrm xmlns:a="http://schemas.openxmlformats.org/drawingml/2006/main">
            <a:off x="628650" y="17049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17201C"/>
                </a:solidFill>
                <a:latin typeface="Arial"/>
                <a:ea typeface="Arial"/>
                <a:cs typeface="Arial"/>
              </a:defRPr>
            </a:pPr>
            <a:r>
              <a:rPr sz="1575" b="0">
                <a:solidFill>
                  <a:srgbClr val="17201C"/>
                </a:solidFill>
                <a:latin typeface="Arial"/>
                <a:ea typeface="Arial"/>
                <a:cs typeface="Arial"/>
              </a:rPr>
              <a:t>Start with scale and balance exposure.</a:t>
            </a:r>
          </a:p>
        </p:txBody>
      </p:sp>
      <p:sp>
        <p:nvSpPr>
          <p:cNvPr id="4" name="">
            <a:extLst xmlns:a="http://schemas.openxmlformats.org/drawingml/2006/main">
              <a:ext uri="{FF2B5EF4-FFF2-40B4-BE49-F238E27FC236}">
                <a16:creationId xmlns:a16="http://schemas.microsoft.com/office/drawing/2014/main" id="{47BD8862-47EA-4C29-A0DD-490AD3E6FB6F}"/>
              </a:ext>
            </a:extLst>
          </p:cNvPr>
          <p:cNvSpPr>
            <a:spLocks xmlns:a="http://schemas.openxmlformats.org/drawingml/2006/main" noGrp="1"/>
          </p:cNvSpPr>
          <p:nvPr/>
        </p:nvSpPr>
        <p:spPr>
          <a:xfrm xmlns:a="http://schemas.openxmlformats.org/drawingml/2006/main">
            <a:off x="628650" y="2409825"/>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27779B"/>
                </a:solidFill>
                <a:latin typeface="Arial"/>
                <a:ea typeface="Arial"/>
                <a:cs typeface="Arial"/>
              </a:defRPr>
            </a:pPr>
            <a:r>
              <a:rPr sz="1875" b="1">
                <a:solidFill>
                  <a:srgbClr val="27779B"/>
                </a:solidFill>
                <a:latin typeface="Arial"/>
                <a:ea typeface="Arial"/>
                <a:cs typeface="Arial"/>
              </a:rPr>
              <a:t>Ethiopia, Norway, Italy, and Algeria</a:t>
            </a:r>
          </a:p>
        </p:txBody>
      </p:sp>
      <p:sp>
        <p:nvSpPr>
          <p:cNvPr id="5" name="">
            <a:extLst xmlns:a="http://schemas.openxmlformats.org/drawingml/2006/main">
              <a:ext uri="{FF2B5EF4-FFF2-40B4-BE49-F238E27FC236}">
                <a16:creationId xmlns:a16="http://schemas.microsoft.com/office/drawing/2014/main" id="{090CCEE5-C94E-4B7E-8CD5-C6933FD23906}"/>
              </a:ext>
            </a:extLst>
          </p:cNvPr>
          <p:cNvSpPr>
            <a:spLocks xmlns:a="http://schemas.openxmlformats.org/drawingml/2006/main" noGrp="1"/>
          </p:cNvSpPr>
          <p:nvPr/>
        </p:nvSpPr>
        <p:spPr>
          <a:xfrm xmlns:a="http://schemas.openxmlformats.org/drawingml/2006/main">
            <a:off x="628650" y="31908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17201C"/>
                </a:solidFill>
                <a:latin typeface="Arial"/>
                <a:ea typeface="Arial"/>
                <a:cs typeface="Arial"/>
              </a:defRPr>
            </a:pPr>
            <a:r>
              <a:rPr sz="1575" b="0">
                <a:solidFill>
                  <a:srgbClr val="17201C"/>
                </a:solidFill>
                <a:latin typeface="Arial"/>
                <a:ea typeface="Arial"/>
                <a:cs typeface="Arial"/>
              </a:rPr>
              <a:t>Test the price and generation contrasts against local operating conditions.</a:t>
            </a:r>
          </a:p>
        </p:txBody>
      </p:sp>
      <p:sp>
        <p:nvSpPr>
          <p:cNvPr id="6" name="">
            <a:extLst xmlns:a="http://schemas.openxmlformats.org/drawingml/2006/main">
              <a:ext uri="{FF2B5EF4-FFF2-40B4-BE49-F238E27FC236}">
                <a16:creationId xmlns:a16="http://schemas.microsoft.com/office/drawing/2014/main" id="{C1B8BF7C-5941-4E5E-965E-677CE665784C}"/>
              </a:ext>
            </a:extLst>
          </p:cNvPr>
          <p:cNvSpPr>
            <a:spLocks xmlns:a="http://schemas.openxmlformats.org/drawingml/2006/main" noGrp="1"/>
          </p:cNvSpPr>
          <p:nvPr/>
        </p:nvSpPr>
        <p:spPr>
          <a:xfrm xmlns:a="http://schemas.openxmlformats.org/drawingml/2006/main">
            <a:off x="628650" y="4114800"/>
            <a:ext cx="4953000" cy="19050"/>
          </a:xfrm>
          <a:prstGeom xmlns:a="http://schemas.openxmlformats.org/drawingml/2006/main" prst="rect">
            <a:avLst/>
          </a:prstGeom>
          <a:solidFill xmlns:a="http://schemas.openxmlformats.org/drawingml/2006/main">
            <a:srgbClr val="C8C3B7"/>
          </a:solidFill>
          <a:ln xmlns:a="http://schemas.openxmlformats.org/drawingml/2006/main" w="0">
            <a:solidFill>
              <a:srgbClr val="C8C3B7"/>
            </a:solidFill>
          </a:ln>
        </p:spPr>
      </p:sp>
      <p:sp>
        <p:nvSpPr>
          <p:cNvPr id="7" name="">
            <a:extLst xmlns:a="http://schemas.openxmlformats.org/drawingml/2006/main">
              <a:ext uri="{FF2B5EF4-FFF2-40B4-BE49-F238E27FC236}">
                <a16:creationId xmlns:a16="http://schemas.microsoft.com/office/drawing/2014/main" id="{6A8C6E0F-FEC9-4FEB-9E0F-E75707582E94}"/>
              </a:ext>
            </a:extLst>
          </p:cNvPr>
          <p:cNvSpPr>
            <a:spLocks xmlns:a="http://schemas.openxmlformats.org/drawingml/2006/main" noGrp="1"/>
          </p:cNvSpPr>
          <p:nvPr/>
        </p:nvSpPr>
        <p:spPr>
          <a:xfrm xmlns:a="http://schemas.openxmlformats.org/drawingml/2006/main">
            <a:off x="628650" y="4400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defRPr sz="1875" b="1">
                <a:solidFill>
                  <a:srgbClr val="17201C"/>
                </a:solidFill>
                <a:latin typeface="Arial"/>
                <a:ea typeface="Arial"/>
                <a:cs typeface="Arial"/>
              </a:defRPr>
            </a:pPr>
            <a:r>
              <a:rPr sz="1875" b="1">
                <a:solidFill>
                  <a:srgbClr val="17201C"/>
                </a:solidFill>
                <a:latin typeface="Arial"/>
                <a:ea typeface="Arial"/>
                <a:cs typeface="Arial"/>
              </a:rPr>
              <a:t>Local checks before a decision</a:t>
            </a:r>
          </a:p>
        </p:txBody>
      </p:sp>
      <p:sp>
        <p:nvSpPr>
          <p:cNvPr id="8" name="">
            <a:extLst xmlns:a="http://schemas.openxmlformats.org/drawingml/2006/main">
              <a:ext uri="{FF2B5EF4-FFF2-40B4-BE49-F238E27FC236}">
                <a16:creationId xmlns:a16="http://schemas.microsoft.com/office/drawing/2014/main" id="{98740846-6835-41FD-B03A-982BF46B9568}"/>
              </a:ext>
            </a:extLst>
          </p:cNvPr>
          <p:cNvSpPr>
            <a:spLocks xmlns:a="http://schemas.openxmlformats.org/drawingml/2006/main" noGrp="1"/>
          </p:cNvSpPr>
          <p:nvPr/>
        </p:nvSpPr>
        <p:spPr>
          <a:xfrm xmlns:a="http://schemas.openxmlformats.org/drawingml/2006/main">
            <a:off x="628650" y="48577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Facility tariff and demand charges</a:t>
            </a:r>
          </a:p>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Contract term, indexation, and hedging</a:t>
            </a:r>
          </a:p>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Available grid capacity and connection cost</a:t>
            </a:r>
          </a:p>
          <a:p xmlns:a="http://schemas.openxmlformats.org/drawingml/2006/main">
            <a:pPr>
              <a:defRPr sz="1575" b="0">
                <a:solidFill>
                  <a:srgbClr val="59645D"/>
                </a:solidFill>
                <a:latin typeface="Arial"/>
                <a:ea typeface="Arial"/>
                <a:cs typeface="Arial"/>
              </a:defRPr>
            </a:pPr>
            <a:r>
              <a:rPr sz="1575" b="0">
                <a:solidFill>
                  <a:srgbClr val="59645D"/>
                </a:solidFill>
                <a:latin typeface="Arial"/>
                <a:ea typeface="Arial"/>
                <a:cs typeface="Arial"/>
              </a:rPr>
              <a:t>Reliability, curtailment, and outage history</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c3c08c6cc264309"/>
          <a:stretch xmlns:a="http://schemas.openxmlformats.org/drawingml/2006/main"/>
        </p:blipFill>
        <p:spPr>
          <a:xfrm xmlns:a="http://schemas.openxmlformats.org/drawingml/2006/main">
            <a:off x="6653716" y="1162050"/>
            <a:ext cx="4199517" cy="4095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3AE1759-0370-49FD-A31B-BF5A0BCDF831}"/>
              </a:ext>
            </a:extLst>
          </p:cNvPr>
          <p:cNvSpPr>
            <a:spLocks xmlns:a="http://schemas.openxmlformats.org/drawingml/2006/main" noGrp="1"/>
          </p:cNvSpPr>
          <p:nvPr/>
        </p:nvSpPr>
        <p:spPr>
          <a:xfrm xmlns:a="http://schemas.openxmlformats.org/drawingml/2006/main">
            <a:off x="6238875" y="5476875"/>
            <a:ext cx="5000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C9583C"/>
                </a:solidFill>
                <a:latin typeface="Arial"/>
                <a:ea typeface="Arial"/>
                <a:cs typeface="Arial"/>
              </a:defRPr>
            </a:pPr>
            <a:r>
              <a:rPr sz="1650" b="1">
                <a:solidFill>
                  <a:srgbClr val="C9583C"/>
                </a:solidFill>
                <a:latin typeface="Arial"/>
                <a:ea typeface="Arial"/>
                <a:cs typeface="Arial"/>
              </a:rPr>
              <a:t>This sequence orders investigation. It does not rank the best market.</a:t>
            </a:r>
          </a:p>
        </p:txBody>
      </p:sp>
      <p:sp>
        <p:nvSpPr>
          <p:cNvPr id="11" name="">
            <a:extLst xmlns:a="http://schemas.openxmlformats.org/drawingml/2006/main">
              <a:ext uri="{FF2B5EF4-FFF2-40B4-BE49-F238E27FC236}">
                <a16:creationId xmlns:a16="http://schemas.microsoft.com/office/drawing/2014/main" id="{BAB83CEC-77B4-412C-A4BD-F237C1100897}"/>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12" name="">
            <a:extLst xmlns:a="http://schemas.openxmlformats.org/drawingml/2006/main">
              <a:ext uri="{FF2B5EF4-FFF2-40B4-BE49-F238E27FC236}">
                <a16:creationId xmlns:a16="http://schemas.microsoft.com/office/drawing/2014/main" id="{BD48FE33-C349-4CF9-B6CC-1C709DB87329}"/>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06</a:t>
            </a:r>
          </a:p>
        </p:txBody>
      </p:sp>
    </p:spTree>
    <p:extLst>
      <p:ext uri="{BB962C8B-B14F-4D97-AF65-F5344CB8AC3E}">
        <p14:creationId xmlns:p14="http://schemas.microsoft.com/office/powerpoint/2010/main" val="170315269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A81E56-6E30-4C77-83C2-EFCDDD6FC12B}"/>
              </a:ext>
            </a:extLst>
          </p:cNvPr>
          <p:cNvSpPr>
            <a:spLocks xmlns:a="http://schemas.openxmlformats.org/drawingml/2006/main" noGrp="1"/>
          </p:cNvSpPr>
          <p:nvPr/>
        </p:nvSpPr>
        <p:spPr>
          <a:xfrm xmlns:a="http://schemas.openxmlformats.org/drawingml/2006/main">
            <a:off x="609600" y="400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32"/>
          </a:bodyPr>
          <a:lstStyle xmlns:a="http://schemas.openxmlformats.org/drawingml/2006/main"/>
          <a:p xmlns:a="http://schemas.openxmlformats.org/drawingml/2006/main">
            <a:pPr>
              <a:defRPr sz="3150" b="1">
                <a:solidFill>
                  <a:srgbClr val="17201C"/>
                </a:solidFill>
                <a:latin typeface="Arial"/>
                <a:ea typeface="Arial"/>
                <a:cs typeface="Arial"/>
              </a:defRPr>
            </a:pPr>
            <a:r>
              <a:rPr sz="3150" b="1">
                <a:solidFill>
                  <a:srgbClr val="17201C"/>
                </a:solidFill>
                <a:latin typeface="Arial"/>
                <a:ea typeface="Arial"/>
                <a:cs typeface="Arial"/>
              </a:rPr>
              <a:t>Method, evidence boundaries, and limitations</a:t>
            </a:r>
          </a:p>
        </p:txBody>
      </p:sp>
      <p:sp>
        <p:nvSpPr>
          <p:cNvPr id="2" name="">
            <a:extLst xmlns:a="http://schemas.openxmlformats.org/drawingml/2006/main">
              <a:ext uri="{FF2B5EF4-FFF2-40B4-BE49-F238E27FC236}">
                <a16:creationId xmlns:a16="http://schemas.microsoft.com/office/drawing/2014/main" id="{8B340775-A2F1-4C14-8676-4B26BDA9DCD4}"/>
              </a:ext>
            </a:extLst>
          </p:cNvPr>
          <p:cNvSpPr>
            <a:spLocks xmlns:a="http://schemas.openxmlformats.org/drawingml/2006/main" noGrp="1"/>
          </p:cNvSpPr>
          <p:nvPr/>
        </p:nvSpPr>
        <p:spPr>
          <a:xfrm xmlns:a="http://schemas.openxmlformats.org/drawingml/2006/main">
            <a:off x="628650" y="12001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defRPr sz="1875" b="1">
                <a:solidFill>
                  <a:srgbClr val="087F5B"/>
                </a:solidFill>
                <a:latin typeface="Arial"/>
                <a:ea typeface="Arial"/>
                <a:cs typeface="Arial"/>
              </a:defRPr>
            </a:pPr>
            <a:r>
              <a:rPr sz="1875" b="1">
                <a:solidFill>
                  <a:srgbClr val="087F5B"/>
                </a:solidFill>
                <a:latin typeface="Arial"/>
                <a:ea typeface="Arial"/>
                <a:cs typeface="Arial"/>
              </a:rPr>
              <a:t>Analysis status</a:t>
            </a:r>
          </a:p>
        </p:txBody>
      </p:sp>
      <p:sp>
        <p:nvSpPr>
          <p:cNvPr id="3" name="">
            <a:extLst xmlns:a="http://schemas.openxmlformats.org/drawingml/2006/main">
              <a:ext uri="{FF2B5EF4-FFF2-40B4-BE49-F238E27FC236}">
                <a16:creationId xmlns:a16="http://schemas.microsoft.com/office/drawing/2014/main" id="{18DCEBC5-178D-4011-9C3A-A43F5EF6D4A1}"/>
              </a:ext>
            </a:extLst>
          </p:cNvPr>
          <p:cNvSpPr>
            <a:spLocks xmlns:a="http://schemas.openxmlformats.org/drawingml/2006/main" noGrp="1"/>
          </p:cNvSpPr>
          <p:nvPr/>
        </p:nvSpPr>
        <p:spPr>
          <a:xfrm xmlns:a="http://schemas.openxmlformats.org/drawingml/2006/main">
            <a:off x="628650" y="163830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Descriptive /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Diagnostic / partial</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Predictive / not performed</a:t>
            </a:r>
          </a:p>
          <a:p xmlns:a="http://schemas.openxmlformats.org/drawingml/2006/main">
            <a:pPr>
              <a:defRPr sz="1725" b="1">
                <a:solidFill>
                  <a:srgbClr val="17201C"/>
                </a:solidFill>
                <a:latin typeface="Arial"/>
                <a:ea typeface="Arial"/>
                <a:cs typeface="Arial"/>
              </a:defRPr>
            </a:pPr>
            <a:r>
              <a:rPr sz="1725" b="1">
                <a:solidFill>
                  <a:srgbClr val="17201C"/>
                </a:solidFill>
                <a:latin typeface="Arial"/>
                <a:ea typeface="Arial"/>
                <a:cs typeface="Arial"/>
              </a:rPr>
              <a:t>Prescriptive / not performed</a:t>
            </a:r>
          </a:p>
        </p:txBody>
      </p:sp>
      <p:sp>
        <p:nvSpPr>
          <p:cNvPr id="4" name="">
            <a:extLst xmlns:a="http://schemas.openxmlformats.org/drawingml/2006/main">
              <a:ext uri="{FF2B5EF4-FFF2-40B4-BE49-F238E27FC236}">
                <a16:creationId xmlns:a16="http://schemas.microsoft.com/office/drawing/2014/main" id="{CE42E88B-DB24-464B-ACA1-B5B9237BB63F}"/>
              </a:ext>
            </a:extLst>
          </p:cNvPr>
          <p:cNvSpPr>
            <a:spLocks xmlns:a="http://schemas.openxmlformats.org/drawingml/2006/main" noGrp="1"/>
          </p:cNvSpPr>
          <p:nvPr/>
        </p:nvSpPr>
        <p:spPr>
          <a:xfrm xmlns:a="http://schemas.openxmlformats.org/drawingml/2006/main">
            <a:off x="628650" y="32956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defRPr sz="1875" b="1">
                <a:solidFill>
                  <a:srgbClr val="087F5B"/>
                </a:solidFill>
                <a:latin typeface="Arial"/>
                <a:ea typeface="Arial"/>
                <a:cs typeface="Arial"/>
              </a:defRPr>
            </a:pPr>
            <a:r>
              <a:rPr sz="1875" b="1">
                <a:solidFill>
                  <a:srgbClr val="087F5B"/>
                </a:solidFill>
                <a:latin typeface="Arial"/>
                <a:ea typeface="Arial"/>
                <a:cs typeface="Arial"/>
              </a:rPr>
              <a:t>Limits that affect interpretation</a:t>
            </a:r>
          </a:p>
        </p:txBody>
      </p:sp>
      <p:sp>
        <p:nvSpPr>
          <p:cNvPr id="5" name="">
            <a:extLst xmlns:a="http://schemas.openxmlformats.org/drawingml/2006/main">
              <a:ext uri="{FF2B5EF4-FFF2-40B4-BE49-F238E27FC236}">
                <a16:creationId xmlns:a16="http://schemas.microsoft.com/office/drawing/2014/main" id="{8C76CE16-8E1D-4313-A775-AD278DBDA3C4}"/>
              </a:ext>
            </a:extLst>
          </p:cNvPr>
          <p:cNvSpPr>
            <a:spLocks xmlns:a="http://schemas.openxmlformats.org/drawingml/2006/main" noGrp="1"/>
          </p:cNvSpPr>
          <p:nvPr/>
        </p:nvSpPr>
        <p:spPr>
          <a:xfrm xmlns:a="http://schemas.openxmlformats.org/drawingml/2006/main">
            <a:off x="628650" y="3752850"/>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17201C"/>
                </a:solidFill>
                <a:latin typeface="Arial"/>
                <a:ea typeface="Arial"/>
                <a:cs typeface="Arial"/>
              </a:defRPr>
            </a:pPr>
            <a:r>
              <a:rPr sz="1575" b="0">
                <a:solidFill>
                  <a:srgbClr val="17201C"/>
                </a:solidFill>
                <a:latin typeface="Arial"/>
                <a:ea typeface="Arial"/>
                <a:cs typeface="Arial"/>
              </a:rPr>
              <a:t>Missing values change denominators. Reference years differ. National averages do not represent a facility contract or connection point. Complete-case correlations do not establish causation.</a:t>
            </a:r>
          </a:p>
        </p:txBody>
      </p:sp>
      <p:sp>
        <p:nvSpPr>
          <p:cNvPr id="6" name="">
            <a:extLst xmlns:a="http://schemas.openxmlformats.org/drawingml/2006/main">
              <a:ext uri="{FF2B5EF4-FFF2-40B4-BE49-F238E27FC236}">
                <a16:creationId xmlns:a16="http://schemas.microsoft.com/office/drawing/2014/main" id="{FCFB75B4-5F00-40AB-AD95-5C1C75B60ACB}"/>
              </a:ext>
            </a:extLst>
          </p:cNvPr>
          <p:cNvSpPr>
            <a:spLocks xmlns:a="http://schemas.openxmlformats.org/drawingml/2006/main" noGrp="1"/>
          </p:cNvSpPr>
          <p:nvPr/>
        </p:nvSpPr>
        <p:spPr>
          <a:xfrm xmlns:a="http://schemas.openxmlformats.org/drawingml/2006/main">
            <a:off x="628650" y="55816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59645D"/>
                </a:solidFill>
                <a:latin typeface="Arial"/>
                <a:ea typeface="Arial"/>
                <a:cs typeface="Arial"/>
              </a:defRPr>
            </a:pPr>
            <a:r>
              <a:rPr sz="1350" b="1">
                <a:solidFill>
                  <a:srgbClr val="59645D"/>
                </a:solidFill>
                <a:latin typeface="Arial"/>
                <a:ea typeface="Arial"/>
                <a:cs typeface="Arial"/>
              </a:rPr>
              <a:t>11 stable files | global-energy-decision-atlas.vercel.app/deliverables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5a1003a05644220"/>
          <a:stretch xmlns:a="http://schemas.openxmlformats.org/drawingml/2006/main"/>
        </p:blipFill>
        <p:spPr>
          <a:xfrm xmlns:a="http://schemas.openxmlformats.org/drawingml/2006/main">
            <a:off x="5407557" y="1104900"/>
            <a:ext cx="6044136" cy="4810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D4B3306-65DB-4101-B279-3441A9703F24}"/>
              </a:ext>
            </a:extLst>
          </p:cNvPr>
          <p:cNvSpPr>
            <a:spLocks xmlns:a="http://schemas.openxmlformats.org/drawingml/2006/main" noGrp="1"/>
          </p:cNvSpPr>
          <p:nvPr/>
        </p:nvSpPr>
        <p:spPr>
          <a:xfrm xmlns:a="http://schemas.openxmlformats.org/drawingml/2006/main">
            <a:off x="609600" y="65151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INSIGHTS AND DECISION USE</a:t>
            </a:r>
          </a:p>
        </p:txBody>
      </p:sp>
      <p:sp>
        <p:nvSpPr>
          <p:cNvPr id="9" name="">
            <a:extLst xmlns:a="http://schemas.openxmlformats.org/drawingml/2006/main">
              <a:ext uri="{FF2B5EF4-FFF2-40B4-BE49-F238E27FC236}">
                <a16:creationId xmlns:a16="http://schemas.microsoft.com/office/drawing/2014/main" id="{CB46CE05-A359-4DC6-B2F5-EB2F7D7E4118}"/>
              </a:ext>
            </a:extLst>
          </p:cNvPr>
          <p:cNvSpPr>
            <a:spLocks xmlns:a="http://schemas.openxmlformats.org/drawingml/2006/main" noGrp="1"/>
          </p:cNvSpPr>
          <p:nvPr/>
        </p:nvSpPr>
        <p:spPr>
          <a:xfrm xmlns:a="http://schemas.openxmlformats.org/drawingml/2006/main">
            <a:off x="1109662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1">
                <a:solidFill>
                  <a:srgbClr val="59645D"/>
                </a:solidFill>
                <a:latin typeface="Arial"/>
                <a:ea typeface="Arial"/>
                <a:cs typeface="Arial"/>
              </a:defRPr>
            </a:pPr>
            <a:r>
              <a:rPr sz="900" b="1">
                <a:solidFill>
                  <a:srgbClr val="59645D"/>
                </a:solidFill>
                <a:latin typeface="Arial"/>
                <a:ea typeface="Arial"/>
                <a:cs typeface="Arial"/>
              </a:rPr>
              <a:t>07</a:t>
            </a:r>
          </a:p>
        </p:txBody>
      </p:sp>
    </p:spTree>
    <p:extLst>
      <p:ext uri="{BB962C8B-B14F-4D97-AF65-F5344CB8AC3E}">
        <p14:creationId xmlns:p14="http://schemas.microsoft.com/office/powerpoint/2010/main" val="1158487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2026-09-19T22:24:03.5610000Z</dcterms:created>
  <dcterms:modified xsi:type="dcterms:W3CDTF">2026-09-19T22:24:03.5610000Z</dcterms:modified>
</coreProperties>
</file>