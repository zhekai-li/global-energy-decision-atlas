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 price</c:v>
                </c:pt>
              </c:strCache>
            </c:strRef>
          </c:tx>
          <c:spPr>
            <a:solidFill>
              <a:srgbClr val="176B5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5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United States</c:v>
                  </c:pt>
                  <c:pt idx="1">
                    <c:v>Germany</c:v>
                  </c:pt>
                  <c:pt idx="2">
                    <c:v>Brazil</c:v>
                  </c:pt>
                  <c:pt idx="3">
                    <c:v>Indonesia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0.203</c:v>
                </c:pt>
                <c:pt idx="1">
                  <c:v>0.399</c:v>
                </c:pt>
                <c:pt idx="2">
                  <c:v>0.18</c:v>
                </c:pt>
                <c:pt idx="3">
                  <c:v>0.082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025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12700" cap="flat">
              <a:solidFill>
                <a:srgbClr val="D9D3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Non-fossil share</c:v>
                </c:pt>
              </c:strCache>
            </c:strRef>
          </c:tx>
          <c:spPr>
            <a:solidFill>
              <a:srgbClr val="315F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5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United States</c:v>
                  </c:pt>
                  <c:pt idx="1">
                    <c:v>Germany</c:v>
                  </c:pt>
                  <c:pt idx="2">
                    <c:v>Brazil</c:v>
                  </c:pt>
                  <c:pt idx="3">
                    <c:v>Indonesia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41.88</c:v>
                </c:pt>
                <c:pt idx="1">
                  <c:v>58.64</c:v>
                </c:pt>
                <c:pt idx="2">
                  <c:v>89.45</c:v>
                </c:pt>
                <c:pt idx="3">
                  <c:v>18.09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5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9D3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energy-data.csv, accessed 17 September 2026. Dataset source URLs are retained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energy-data.csv, accessed 17 September 2026. Dataset source URLs are retained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energy-data.csv, accessed 17 September 2026. Dataset source URLs are retained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energy-data.csv, accessed 17 September 2026. Dataset source URLs are retained in the repository. Household prices: United States 0.203, Germany 0.399, Brazil 0.180, Indonesia 0.082 USD/kWh. Non-fossil electricity: 41.88%, 58.64%, 89.45%, and 18.09%,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energy-data.csv, accessed 17 September 2026. Dataset source URLs are retained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energy-data.csv, accessed 17 September 2026. Dataset source URLs are retained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31750"/>
            <a:ext cx="823874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17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FIVE-MINUTE DECISION DEMONSTRATION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3400" y="1283047"/>
            <a:ext cx="7642759" cy="55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6"/>
              </a:lnSpc>
              <a:spcBef>
                <a:spcPts val="4600"/>
              </a:spcBef>
              <a:buNone/>
            </a:pPr>
            <a:r>
              <a:rPr lang="en-US" sz="4300" dirty="0">
                <a:solidFill>
                  <a:srgbClr val="20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Energy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533400" y="1928813"/>
            <a:ext cx="7642759" cy="55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6"/>
              </a:lnSpc>
              <a:spcBef>
                <a:spcPts val="700"/>
              </a:spcBef>
              <a:buNone/>
            </a:pPr>
            <a:r>
              <a:rPr lang="en-US" sz="4300" dirty="0">
                <a:solidFill>
                  <a:srgbClr val="20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Atlas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533400" y="2803178"/>
            <a:ext cx="58939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2500"/>
              </a:spcBef>
              <a:buNone/>
            </a:pPr>
            <a:r>
              <a:rPr lang="en-US" sz="150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operating cost, electricity sources, and energy trade exposure across 15 countries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7213" y="4166592"/>
            <a:ext cx="0" cy="291108"/>
          </a:xfrm>
          <a:prstGeom prst="line">
            <a:avLst/>
          </a:prstGeom>
          <a:noFill/>
          <a:ln w="47625">
            <a:solidFill>
              <a:srgbClr val="176B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726" y="4166592"/>
            <a:ext cx="339723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business energy and sustainability teams screening national markets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3400" y="4770983"/>
            <a:ext cx="8077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4851946"/>
            <a:ext cx="167379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ENERGY DECISION ATLAS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295977" y="4851946"/>
            <a:ext cx="32091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31750"/>
            <a:ext cx="823874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17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METHOD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3400" y="698897"/>
            <a:ext cx="8238744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dirty="0">
                <a:solidFill>
                  <a:srgbClr val="20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supplied dataset, four decision lenses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363712"/>
            <a:ext cx="2452557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2"/>
              </a:lnSpc>
              <a:spcAft>
                <a:spcPts val="200"/>
              </a:spcAft>
              <a:buNone/>
            </a:pPr>
            <a:r>
              <a:rPr lang="en-US" sz="3400" dirty="0">
                <a:solidFill>
                  <a:srgbClr val="176B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3400" y="1984772"/>
            <a:ext cx="2452557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3400" y="2170658"/>
            <a:ext cx="2452557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energy consumers form a focused comparison set rather than a global census.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69618" y="1363712"/>
            <a:ext cx="2452708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2"/>
              </a:lnSpc>
              <a:spcAft>
                <a:spcPts val="200"/>
              </a:spcAft>
              <a:buNone/>
            </a:pPr>
            <a:r>
              <a:rPr lang="en-US" sz="3400" dirty="0">
                <a:solidFill>
                  <a:srgbClr val="176B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69618" y="1984772"/>
            <a:ext cx="2452708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FIELDS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369618" y="2170658"/>
            <a:ext cx="2452708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Prices, consumption, generation sources, production, imports, exports, dates, units, and source URLs.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05984" y="1363712"/>
            <a:ext cx="2452708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2"/>
              </a:lnSpc>
              <a:spcAft>
                <a:spcPts val="200"/>
              </a:spcAft>
              <a:buNone/>
            </a:pPr>
            <a:r>
              <a:rPr lang="en-US" sz="3400" dirty="0">
                <a:solidFill>
                  <a:srgbClr val="176B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05984" y="1984772"/>
            <a:ext cx="2452708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DATA REQUESTS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05984" y="2170658"/>
            <a:ext cx="245270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unchanged CSV is validated and bundled with the static site.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400" y="2954387"/>
            <a:ext cx="8077200" cy="9525"/>
          </a:xfrm>
          <a:prstGeom prst="rect">
            <a:avLst/>
          </a:prstGeom>
          <a:solidFill>
            <a:srgbClr val="CFC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3179713"/>
            <a:ext cx="189452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400" y="3438674"/>
            <a:ext cx="189452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energy production and cross-border trade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576" y="3179713"/>
            <a:ext cx="189467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576" y="3438674"/>
            <a:ext cx="189467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consumption and domestic electricity generation mix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79900" y="3179713"/>
            <a:ext cx="189452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79900" y="3438674"/>
            <a:ext cx="189452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and business retail electricity prices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53076" y="3179713"/>
            <a:ext cx="189467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53076" y="3438674"/>
            <a:ext cx="189467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Iranian prices display as N/A and never become zero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3400" y="4770983"/>
            <a:ext cx="8077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4851946"/>
            <a:ext cx="167379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ENERGY DECISION ATLAS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295977" y="4851946"/>
            <a:ext cx="32091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31750"/>
            <a:ext cx="823874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17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3400" y="698897"/>
            <a:ext cx="823874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dirty="0">
                <a:solidFill>
                  <a:srgbClr val="20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shortlist, inspect the tradeoffs, export the evidence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672828"/>
            <a:ext cx="4851350" cy="3225701"/>
          </a:xfrm>
          <a:prstGeom prst="rect">
            <a:avLst/>
          </a:prstGeom>
          <a:solidFill>
            <a:srgbClr val="FFFFFF"/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zhekaili/Documents/1125/Lesson03/tmp/deck-build/atlas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1682353"/>
            <a:ext cx="4851350" cy="32257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40301" y="1972121"/>
            <a:ext cx="2870299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40301" y="2129284"/>
            <a:ext cx="2927705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COMPARE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740301" y="2315170"/>
            <a:ext cx="292770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up to four countries and switch between household and business prices.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40301" y="2850952"/>
            <a:ext cx="2870299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40301" y="3008114"/>
            <a:ext cx="2927705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INTERPRET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740301" y="3194000"/>
            <a:ext cx="292770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cost, mix, demand, and trade together. No composite score hides the tradeoffs.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40301" y="3729782"/>
            <a:ext cx="2870299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0301" y="3886944"/>
            <a:ext cx="2927705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CONTINUE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740301" y="4072830"/>
            <a:ext cx="292770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selected comparison for facility-level diligence.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3400" y="4770983"/>
            <a:ext cx="8077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3400" y="4851946"/>
            <a:ext cx="167379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ENERGY DECISION ATLAS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8295977" y="4851946"/>
            <a:ext cx="32091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31750"/>
            <a:ext cx="823874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17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FROM THE DEFAULT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3400" y="698897"/>
            <a:ext cx="8238744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dirty="0">
                <a:solidFill>
                  <a:srgbClr val="20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markets show no single best profile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338263"/>
            <a:ext cx="4002786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ELECTRICITY PRICE  USD PER KWH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686300" y="1338263"/>
            <a:ext cx="4002786" cy="1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NON-FOSSIL ELECTRICITY GENERATION  PERCENT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3400" y="4559350"/>
            <a:ext cx="82387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Bef>
                <a:spcPts val="900"/>
              </a:spcBef>
              <a:buNone/>
            </a:pPr>
            <a:r>
              <a:rPr lang="en-US" sz="8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reports the lowest household price in the selection. Brazil reports the highest non-fossil generation share. Germany is the only net importer among the four.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3400" y="4770983"/>
            <a:ext cx="8077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4851946"/>
            <a:ext cx="167379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ENERGY DECISION ATLAS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295977" y="4851946"/>
            <a:ext cx="32091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6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33400" y="1524149"/>
          <a:ext cx="3810000" cy="292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4686300" y="1524149"/>
          <a:ext cx="3810000" cy="292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431750"/>
            <a:ext cx="823874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8F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3400" y="698897"/>
            <a:ext cx="725413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dirty="0">
                <a:solidFill>
                  <a:srgbClr val="F7F3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the atlas as a screening tool before local diligence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3400" y="1728490"/>
            <a:ext cx="8077200" cy="0"/>
          </a:xfrm>
          <a:prstGeom prst="line">
            <a:avLst/>
          </a:prstGeom>
          <a:noFill/>
          <a:ln w="9525">
            <a:solidFill>
              <a:srgbClr val="536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936403"/>
            <a:ext cx="712419" cy="40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8FC9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1850" y="1936403"/>
            <a:ext cx="46007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 on cost and generation mix together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850" y="2195364"/>
            <a:ext cx="460074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8D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 retail price can coexist with a fossil-heavy grid. Carry both measures into the site screen.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400" y="2548830"/>
            <a:ext cx="8077200" cy="0"/>
          </a:xfrm>
          <a:prstGeom prst="line">
            <a:avLst/>
          </a:prstGeom>
          <a:noFill/>
          <a:ln w="9525">
            <a:solidFill>
              <a:srgbClr val="536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756743"/>
            <a:ext cx="712419" cy="40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8FC9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1850" y="2756743"/>
            <a:ext cx="502686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 import exposure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1850" y="3015704"/>
            <a:ext cx="502686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8D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net importers, assess contract terms, fuel sensitivity, and continuity plans before committing capital.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3400" y="3369171"/>
            <a:ext cx="8077200" cy="0"/>
          </a:xfrm>
          <a:prstGeom prst="line">
            <a:avLst/>
          </a:prstGeom>
          <a:noFill/>
          <a:ln w="9525">
            <a:solidFill>
              <a:srgbClr val="536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400" y="3577084"/>
            <a:ext cx="712419" cy="40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8FC9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1850" y="3577084"/>
            <a:ext cx="51396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facility tariff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1850" y="3836045"/>
            <a:ext cx="513965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8D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current industrial rates, demand charges, time-of-use rules, and renewable procurement options.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3400" y="4770983"/>
            <a:ext cx="8077200" cy="0"/>
          </a:xfrm>
          <a:prstGeom prst="line">
            <a:avLst/>
          </a:prstGeom>
          <a:noFill/>
          <a:ln w="9525">
            <a:solidFill>
              <a:srgbClr val="536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4851946"/>
            <a:ext cx="167379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A9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ENERGY DECISION ATLAS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295977" y="4851946"/>
            <a:ext cx="32091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A9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31750"/>
            <a:ext cx="823874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17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REFLECTION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3400" y="698897"/>
            <a:ext cx="823874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dirty="0">
                <a:solidFill>
                  <a:srgbClr val="20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Cross-sectional evidence narrows questions. It does not prove causes.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736378"/>
            <a:ext cx="37129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supports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400" y="1995339"/>
            <a:ext cx="3712991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atlas identifies differences in reported prices, source shares, absolute demand, and trade direction. It helps teams choose where to investigate further.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2779068"/>
            <a:ext cx="3640187" cy="9525"/>
          </a:xfrm>
          <a:prstGeom prst="rect">
            <a:avLst/>
          </a:prstGeom>
          <a:solidFill>
            <a:srgbClr val="CFC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3004393"/>
            <a:ext cx="37129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cannot establish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3263354"/>
            <a:ext cx="3712991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show why prices differ, predict future tariffs, rank supply reliability, or prove that generation mix causes retail prices.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0100" y="1736378"/>
            <a:ext cx="0" cy="1853208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0413" y="1736378"/>
            <a:ext cx="37129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boundaries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0413" y="1995339"/>
            <a:ext cx="3712991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0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years differ. Consumption is not per capita. USD prices carry exchange-rate uncertainty. Iran lacks prices. “Other” combines nuclear and other renewables.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70413" y="2779068"/>
            <a:ext cx="3640187" cy="9525"/>
          </a:xfrm>
          <a:prstGeom prst="rect">
            <a:avLst/>
          </a:prstGeom>
          <a:solidFill>
            <a:srgbClr val="CFC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0413" y="3004393"/>
            <a:ext cx="3712991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800" dirty="0">
                <a:solidFill>
                  <a:srgbClr val="20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comparison to form a shortlist, then verify the actual site.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3400" y="4770983"/>
            <a:ext cx="8077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4851946"/>
            <a:ext cx="167379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ENERGY DECISION ATLAS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295977" y="4851946"/>
            <a:ext cx="32091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50" dirty="0">
                <a:solidFill>
                  <a:srgbClr val="66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Energy Decision Atlas</dc:title>
  <dc:subject>Five-minute energy market decision demonstration</dc:subject>
  <dc:creator>Global Energy Decision Atlas</dc:creator>
  <cp:lastModifiedBy>Global Energy Decision Atlas</cp:lastModifiedBy>
  <cp:revision>1</cp:revision>
  <dcterms:created xsi:type="dcterms:W3CDTF">2026-09-17T13:47:52Z</dcterms:created>
  <dcterms:modified xsi:type="dcterms:W3CDTF">2026-09-17T13:47:52Z</dcterms:modified>
</cp:coreProperties>
</file>