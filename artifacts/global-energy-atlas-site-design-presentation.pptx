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481d767b704638" /><Relationship Type="http://schemas.openxmlformats.org/officeDocument/2006/relationships/extended-properties" Target="/docProps/app.xml" Id="R4160045b66634329" /><Relationship Type="http://schemas.openxmlformats.org/officeDocument/2006/relationships/officeDocument" Target="/ppt/presentation.xml" Id="R4ed2e56a86ff4070" /></Relationships>
</file>

<file path=ppt/presentation.xml><?xml version="1.0" encoding="utf-8"?>
<p:presentation xmlns:p="http://schemas.openxmlformats.org/presentationml/2006/main">
  <p:sldMasterIdLst>
    <p:sldMasterId xmlns:r="http://schemas.openxmlformats.org/officeDocument/2006/relationships" id="2147483648" r:id="Re13fe1243161405c"/>
  </p:sldMasterIdLst>
  <p:notesMasterIdLst>
    <p:notesMasterId xmlns:r="http://schemas.openxmlformats.org/officeDocument/2006/relationships" r:id="R251858c0af1440d3"/>
  </p:notesMasterIdLst>
  <p:sldIdLst>
    <p:sldId xmlns:r="http://schemas.openxmlformats.org/officeDocument/2006/relationships" id="256" r:id="R13060eb71eac40cd"/>
    <p:sldId xmlns:r="http://schemas.openxmlformats.org/officeDocument/2006/relationships" id="257" r:id="R45b5673599c34fa3"/>
    <p:sldId xmlns:r="http://schemas.openxmlformats.org/officeDocument/2006/relationships" id="258" r:id="R7008618e6c954614"/>
    <p:sldId xmlns:r="http://schemas.openxmlformats.org/officeDocument/2006/relationships" id="259" r:id="R19225a2269a84b30"/>
    <p:sldId xmlns:r="http://schemas.openxmlformats.org/officeDocument/2006/relationships" id="260" r:id="R4421ee556e4941ef"/>
    <p:sldId xmlns:r="http://schemas.openxmlformats.org/officeDocument/2006/relationships" id="261" r:id="Rd9ee676e2b644cc8"/>
    <p:sldId xmlns:r="http://schemas.openxmlformats.org/officeDocument/2006/relationships" id="262" r:id="R611b23b8605b41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c7f2362d4a4d89" /><Relationship Type="http://schemas.openxmlformats.org/officeDocument/2006/relationships/slideMaster" Target="/ppt/slideMasters/slideMaster1.xml" Id="Re13fe1243161405c" /><Relationship Type="http://schemas.openxmlformats.org/officeDocument/2006/relationships/notesMaster" Target="/ppt/notesMasters/notesMaster1.xml" Id="R251858c0af1440d3" /><Relationship Type="http://schemas.openxmlformats.org/officeDocument/2006/relationships/presProps" Target="/ppt/presProps.xml" Id="Rdcb4671240e44653" /><Relationship Type="http://schemas.openxmlformats.org/officeDocument/2006/relationships/tableStyles" Target="/ppt/tableStyles.xml" Id="R9be46dec80694afe" /><Relationship Type="http://schemas.openxmlformats.org/officeDocument/2006/relationships/slide" Target="/ppt/slides/slide1.xml" Id="R13060eb71eac40cd" /><Relationship Type="http://schemas.openxmlformats.org/officeDocument/2006/relationships/slide" Target="/ppt/slides/slide2.xml" Id="R45b5673599c34fa3" /><Relationship Type="http://schemas.openxmlformats.org/officeDocument/2006/relationships/slide" Target="/ppt/slides/slide3.xml" Id="R7008618e6c954614" /><Relationship Type="http://schemas.openxmlformats.org/officeDocument/2006/relationships/slide" Target="/ppt/slides/slide4.xml" Id="R19225a2269a84b30" /><Relationship Type="http://schemas.openxmlformats.org/officeDocument/2006/relationships/slide" Target="/ppt/slides/slide5.xml" Id="R4421ee556e4941ef" /><Relationship Type="http://schemas.openxmlformats.org/officeDocument/2006/relationships/slide" Target="/ppt/slides/slide6.xml" Id="Rd9ee676e2b644cc8" /><Relationship Type="http://schemas.openxmlformats.org/officeDocument/2006/relationships/slide" Target="/ppt/slides/slide7.xml" Id="R611b23b8605b41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6c14fc083c49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33efea8f0b4198" /><Relationship Type="http://schemas.openxmlformats.org/officeDocument/2006/relationships/notesMaster" Target="/ppt/notesMasters/notesMaster1.xml" Id="R2e956fe31d7741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c21433f0d743b5" /><Relationship Type="http://schemas.openxmlformats.org/officeDocument/2006/relationships/notesMaster" Target="/ppt/notesMasters/notesMaster1.xml" Id="Rb488c19b8ce546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ac1fbe25cd4d62" /><Relationship Type="http://schemas.openxmlformats.org/officeDocument/2006/relationships/notesMaster" Target="/ppt/notesMasters/notesMaster1.xml" Id="Rb900ae9bd2d74e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5a866632a24a56" /><Relationship Type="http://schemas.openxmlformats.org/officeDocument/2006/relationships/notesMaster" Target="/ppt/notesMasters/notesMaster1.xml" Id="R069d1734ee1646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651e0908d543ad" /><Relationship Type="http://schemas.openxmlformats.org/officeDocument/2006/relationships/notesMaster" Target="/ppt/notesMasters/notesMaster1.xml" Id="R6fb757c3ac9b43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b117ad58b34147" /><Relationship Type="http://schemas.openxmlformats.org/officeDocument/2006/relationships/notesMaster" Target="/ppt/notesMasters/notesMaster1.xml" Id="Rf5462e6607bb44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7a89c9d2f94c84" /><Relationship Type="http://schemas.openxmlformats.org/officeDocument/2006/relationships/notesMaster" Target="/ppt/notesMasters/notesMaster1.xml" Id="R8376a7f4ab8146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35 seconds.</a:t>
            </a:r>
          </a:p>
          <a:p xmlns:a="http://schemas.openxmlformats.org/drawingml/2006/main">
            <a:r>
              <a:t>Talk track: Introduce this deck as a supplemental walkthrough of the atlas design. It explains how the interface gives corporate energy and site-selection teams access to the 50-market screen, how controls shape the evidence, and how the product preserves traceability. The formal five-minute course presentation is the separate Insights and Decision Use deck.</a:t>
            </a:r>
          </a:p>
          <a:p xmlns:a="http://schemas.openxmlformats.org/drawingml/2006/main">
            <a:r>
              <a:t>Sources: artifacts/analysis-summary.json; data/story-presets.json; src/pages/LandingPage.tsx; src/pages/AtlasPage.tsx.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40 seconds.</a:t>
            </a:r>
          </a:p>
          <a:p xmlns:a="http://schemas.openxmlformats.org/drawingml/2006/main">
            <a:r>
              <a:t>Talk track: Show the sign-in and Guest choices. Guest users can review the full atlas. Accounts add cross-device saved views and profile preferences. Point out the language and appearance controls, including Arabic right-to-left layout.</a:t>
            </a:r>
          </a:p>
          <a:p xmlns:a="http://schemas.openxmlformats.org/drawingml/2006/main">
            <a:r>
              <a:t>Sources: artifacts/analysis-summary.json; data/story-presets.json; src/pages/AuthPage.tsx; src/components/PreferenceControls.tsx.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45 seconds.</a:t>
            </a:r>
          </a:p>
          <a:p xmlns:a="http://schemas.openxmlformats.org/drawingml/2006/main">
            <a:r>
              <a:t>Talk track: Open the filter rail. Demonstrate Dataset, countries or regions, Members or Aggregate, Price audience, Map metric, and Focus countries. The rail supports hover, keyboard focus, click, pinning, Escape, and a touch drawer on mobile.</a:t>
            </a:r>
          </a:p>
          <a:p xmlns:a="http://schemas.openxmlformats.org/drawingml/2006/main">
            <a:r>
              <a:t>Sources: artifacts/analysis-summary.json; data/story-presets.json; src/components/FilterRail.tsx; src/filter-rail-events.ts.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40 seconds.</a:t>
            </a:r>
          </a:p>
          <a:p xmlns:a="http://schemas.openxmlformats.org/drawingml/2006/main">
            <a:r>
              <a:t>Talk track: Use the map to show that the selected measure controls both color and legend units. Hover or select a country to inspect value, period, and source. Zoom and reset stay inside the component. Separate outlines show analysis scope and focus countries.</a:t>
            </a:r>
          </a:p>
          <a:p xmlns:a="http://schemas.openxmlformats.org/drawingml/2006/main">
            <a:r>
              <a:t>Sources: artifacts/analysis-summary.json; data/story-presets.json; src/components/WorldMap.tsx.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45 seconds.</a:t>
            </a:r>
          </a:p>
          <a:p xmlns:a="http://schemas.openxmlformats.org/drawingml/2006/main">
            <a:r>
              <a:t>Talk track: Move from Cost x Mix to the normalized Electricity mix and the balance view. Then show the Evidence table. The table carries periods and fallback status, supports sorting, and exports stable CSV fields for the active selection.</a:t>
            </a:r>
          </a:p>
          <a:p xmlns:a="http://schemas.openxmlformats.org/drawingml/2006/main">
            <a:r>
              <a:t>Sources: artifacts/analysis-summary.json; data/story-presets.json; src/pages/AtlasPage.tsx; src/analytics.ts.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50 seconds.</a:t>
            </a:r>
          </a:p>
          <a:p xmlns:a="http://schemas.openxmlformats.org/drawingml/2006/main">
            <a:r>
              <a:t>Talk track: Open one of the four fixed story views. The action applies its dataset, countries, focus list, price audience, map metric, and sort order without creating a saved view. Then show the Signals sample sentence. It names complete records, the denominator, and whether the evidence represents markets or regional aggregates.</a:t>
            </a:r>
          </a:p>
          <a:p xmlns:a="http://schemas.openxmlformats.org/drawingml/2006/main">
            <a:r>
              <a:t>Sources: artifacts/analysis-summary.json; data/story-presets.json; src/insights.ts.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45 seconds.</a:t>
            </a:r>
          </a:p>
          <a:p xmlns:a="http://schemas.openxmlformats.org/drawingml/2006/main">
            <a:r>
              <a:t>Talk track: Close with the boundary between completed and unperformed work. Descriptive analysis is performed; diagnostic analysis is partial. Predictive and prescriptive analysis were not performed. The atlas cannot predict future electricity prices, demand, reliability, or emissions. It does not prove a best market, investment return, or optimal site. The balance gap is not an observed trade flow. The public Deliverables page provides all 11 stable files without sign-in.</a:t>
            </a:r>
          </a:p>
          <a:p xmlns:a="http://schemas.openxmlformats.org/drawingml/2006/main">
            <a:r>
              <a:t>Sources: artifacts/analysis-summary.json; data/story-presets.json; data/deliverables.json; src/pages/DeliverablesPage.tsx.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82fe769a3149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fd2e190212466e" /><Relationship Type="http://schemas.openxmlformats.org/officeDocument/2006/relationships/slideLayout" Target="/ppt/slideLayouts/slideLayout1.xml" Id="Rabb007dd46b24e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b007dd46b24e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97401d93fc4d5c" /><Relationship Type="http://schemas.openxmlformats.org/officeDocument/2006/relationships/image" Target="/ppt/media/image.png" Id="R364b4486435a418e" /><Relationship Type="http://schemas.openxmlformats.org/officeDocument/2006/relationships/notesSlide" Target="/ppt/notesSlides/notesSlide1.xml" Id="Rf495838ddb3e42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db23be321a43eb" /><Relationship Type="http://schemas.openxmlformats.org/officeDocument/2006/relationships/image" Target="/ppt/media/image2.png" Id="R1683482b128b4a28" /><Relationship Type="http://schemas.openxmlformats.org/officeDocument/2006/relationships/notesSlide" Target="/ppt/notesSlides/notesSlide2.xml" Id="R361e4fce4ce44c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d431c6352941c4" /><Relationship Type="http://schemas.openxmlformats.org/officeDocument/2006/relationships/image" Target="/ppt/media/image3.png" Id="R6c69af30078d4336" /><Relationship Type="http://schemas.openxmlformats.org/officeDocument/2006/relationships/image" Target="/ppt/media/image4.png" Id="Rbec129aeb3854c2e" /><Relationship Type="http://schemas.openxmlformats.org/officeDocument/2006/relationships/notesSlide" Target="/ppt/notesSlides/notesSlide3.xml" Id="R576704159e4641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4c54c5f0324cb3" /><Relationship Type="http://schemas.openxmlformats.org/officeDocument/2006/relationships/image" Target="/ppt/media/image5.png" Id="R452fc330a59e4f07" /><Relationship Type="http://schemas.openxmlformats.org/officeDocument/2006/relationships/notesSlide" Target="/ppt/notesSlides/notesSlide4.xml" Id="R3d6088508ca647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fe28cd3cc3457a" /><Relationship Type="http://schemas.openxmlformats.org/officeDocument/2006/relationships/image" Target="/ppt/media/image6.png" Id="R3a0e52dfe2fb484b" /><Relationship Type="http://schemas.openxmlformats.org/officeDocument/2006/relationships/image" Target="/ppt/media/image7.png" Id="R71ca754ac7f14705" /><Relationship Type="http://schemas.openxmlformats.org/officeDocument/2006/relationships/notesSlide" Target="/ppt/notesSlides/notesSlide5.xml" Id="Reb412555f57840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46c590586844fb" /><Relationship Type="http://schemas.openxmlformats.org/officeDocument/2006/relationships/image" Target="/ppt/media/image8.png" Id="R484c696738a34dcb" /><Relationship Type="http://schemas.openxmlformats.org/officeDocument/2006/relationships/image" Target="/ppt/media/image9.png" Id="R532e564f811b470e" /><Relationship Type="http://schemas.openxmlformats.org/officeDocument/2006/relationships/notesSlide" Target="/ppt/notesSlides/notesSlide6.xml" Id="R574d1a2c8b5240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e23dd4c63641b5" /><Relationship Type="http://schemas.openxmlformats.org/officeDocument/2006/relationships/image" Target="/ppt/media/image10.png" Id="Rcb5bafe5086b4adb" /><Relationship Type="http://schemas.openxmlformats.org/officeDocument/2006/relationships/notesSlide" Target="/ppt/notesSlides/notesSlide7.xml" Id="R303bf871246c470a" /></Relationships>
</file>

<file path=ppt/slides/slide1.xml><?xml version="1.0" encoding="utf-8"?>
<p:sld xmlns:p="http://schemas.openxmlformats.org/presentationml/2006/main">
  <p:cSld>
    <p:bg>
      <p:bgPr>
        <a:solidFill xmlns:a="http://schemas.openxmlformats.org/drawingml/2006/main">
          <a:srgbClr val="F1EEE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64b4486435a418e"/>
          <a:srcRect xmlns:a="http://schemas.openxmlformats.org/drawingml/2006/main" l="33039" t="0" r="33039" b="0"/>
          <a:stretch xmlns:a="http://schemas.openxmlformats.org/drawingml/2006/main">
            <a:fillRect l="0" t="0" r="0" b="0"/>
          </a:stretch>
        </p:blipFill>
        <p:spPr>
          <a:xfrm xmlns:a="http://schemas.openxmlformats.org/drawingml/2006/main">
            <a:off x="6762750" y="0"/>
            <a:ext cx="5429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A199719-FDEC-4BB1-B801-0A97416A4E92}"/>
              </a:ext>
            </a:extLst>
          </p:cNvPr>
          <p:cNvSpPr>
            <a:spLocks xmlns:a="http://schemas.openxmlformats.org/drawingml/2006/main" noGrp="1"/>
          </p:cNvSpPr>
          <p:nvPr/>
        </p:nvSpPr>
        <p:spPr>
          <a:xfrm xmlns:a="http://schemas.openxmlformats.org/drawingml/2006/main">
            <a:off x="647700" y="6858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087F5B"/>
                </a:solidFill>
                <a:latin typeface="Arial"/>
                <a:ea typeface="Arial"/>
                <a:cs typeface="Arial"/>
              </a:defRPr>
            </a:pPr>
            <a:r>
              <a:rPr sz="1350" b="1">
                <a:solidFill>
                  <a:srgbClr val="087F5B"/>
                </a:solidFill>
                <a:latin typeface="Arial"/>
                <a:ea typeface="Arial"/>
                <a:cs typeface="Arial"/>
              </a:rPr>
              <a:t>Global Energy Decision Atlas</a:t>
            </a:r>
          </a:p>
        </p:txBody>
      </p:sp>
      <p:sp>
        <p:nvSpPr>
          <p:cNvPr id="3" name="">
            <a:extLst xmlns:a="http://schemas.openxmlformats.org/drawingml/2006/main">
              <a:ext uri="{FF2B5EF4-FFF2-40B4-BE49-F238E27FC236}">
                <a16:creationId xmlns:a16="http://schemas.microsoft.com/office/drawing/2014/main" id="{47F4AD33-1812-4B29-81A0-7C9CA6D4AE2D}"/>
              </a:ext>
            </a:extLst>
          </p:cNvPr>
          <p:cNvSpPr>
            <a:spLocks xmlns:a="http://schemas.openxmlformats.org/drawingml/2006/main" noGrp="1"/>
          </p:cNvSpPr>
          <p:nvPr/>
        </p:nvSpPr>
        <p:spPr>
          <a:xfrm xmlns:a="http://schemas.openxmlformats.org/drawingml/2006/main">
            <a:off x="647700" y="1352550"/>
            <a:ext cx="542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944"/>
          </a:bodyPr>
          <a:lstStyle xmlns:a="http://schemas.openxmlformats.org/drawingml/2006/main"/>
          <a:p xmlns:a="http://schemas.openxmlformats.org/drawingml/2006/main">
            <a:pPr>
              <a:defRPr sz="4200" b="1">
                <a:solidFill>
                  <a:srgbClr val="17201C"/>
                </a:solidFill>
                <a:latin typeface="Arial"/>
                <a:ea typeface="Arial"/>
                <a:cs typeface="Arial"/>
              </a:defRPr>
            </a:pPr>
            <a:r>
              <a:rPr sz="4200" b="1">
                <a:solidFill>
                  <a:srgbClr val="17201C"/>
                </a:solidFill>
                <a:latin typeface="Arial"/>
                <a:ea typeface="Arial"/>
                <a:cs typeface="Arial"/>
              </a:rPr>
              <a:t>Site design and interaction walkthrough</a:t>
            </a:r>
          </a:p>
        </p:txBody>
      </p:sp>
      <p:sp>
        <p:nvSpPr>
          <p:cNvPr id="4" name="">
            <a:extLst xmlns:a="http://schemas.openxmlformats.org/drawingml/2006/main">
              <a:ext uri="{FF2B5EF4-FFF2-40B4-BE49-F238E27FC236}">
                <a16:creationId xmlns:a16="http://schemas.microsoft.com/office/drawing/2014/main" id="{D7D25708-A2B3-4878-9AC3-DC134033F6C0}"/>
              </a:ext>
            </a:extLst>
          </p:cNvPr>
          <p:cNvSpPr>
            <a:spLocks xmlns:a="http://schemas.openxmlformats.org/drawingml/2006/main" noGrp="1"/>
          </p:cNvSpPr>
          <p:nvPr/>
        </p:nvSpPr>
        <p:spPr>
          <a:xfrm xmlns:a="http://schemas.openxmlformats.org/drawingml/2006/main">
            <a:off x="685800" y="3257550"/>
            <a:ext cx="495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a:solidFill>
                  <a:srgbClr val="59645D"/>
                </a:solidFill>
                <a:latin typeface="Arial"/>
                <a:ea typeface="Arial"/>
                <a:cs typeface="Arial"/>
              </a:defRPr>
            </a:pPr>
            <a:r>
              <a:rPr sz="1875" b="0">
                <a:solidFill>
                  <a:srgbClr val="59645D"/>
                </a:solidFill>
                <a:latin typeface="Arial"/>
                <a:ea typeface="Arial"/>
                <a:cs typeface="Arial"/>
              </a:rPr>
              <a:t>Login, filters, map behavior, responsive controls, multilingual support, and evidence traceability.</a:t>
            </a:r>
          </a:p>
        </p:txBody>
      </p:sp>
      <p:sp>
        <p:nvSpPr>
          <p:cNvPr id="5" name="">
            <a:extLst xmlns:a="http://schemas.openxmlformats.org/drawingml/2006/main">
              <a:ext uri="{FF2B5EF4-FFF2-40B4-BE49-F238E27FC236}">
                <a16:creationId xmlns:a16="http://schemas.microsoft.com/office/drawing/2014/main" id="{997BDDD2-936A-45A5-9429-E0486156498C}"/>
              </a:ext>
            </a:extLst>
          </p:cNvPr>
          <p:cNvSpPr>
            <a:spLocks xmlns:a="http://schemas.openxmlformats.org/drawingml/2006/main" noGrp="1"/>
          </p:cNvSpPr>
          <p:nvPr/>
        </p:nvSpPr>
        <p:spPr>
          <a:xfrm xmlns:a="http://schemas.openxmlformats.org/drawingml/2006/main">
            <a:off x="685800" y="58864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087F5B"/>
                </a:solidFill>
                <a:latin typeface="Arial"/>
                <a:ea typeface="Arial"/>
                <a:cs typeface="Arial"/>
              </a:defRPr>
            </a:pPr>
            <a:r>
              <a:rPr sz="1350" b="1">
                <a:solidFill>
                  <a:srgbClr val="087F5B"/>
                </a:solidFill>
                <a:latin typeface="Arial"/>
                <a:ea typeface="Arial"/>
                <a:cs typeface="Arial"/>
              </a:rPr>
              <a:t>Supplemental design walkthrough</a:t>
            </a:r>
          </a:p>
        </p:txBody>
      </p:sp>
      <p:sp>
        <p:nvSpPr>
          <p:cNvPr id="6" name="">
            <a:extLst xmlns:a="http://schemas.openxmlformats.org/drawingml/2006/main">
              <a:ext uri="{FF2B5EF4-FFF2-40B4-BE49-F238E27FC236}">
                <a16:creationId xmlns:a16="http://schemas.microsoft.com/office/drawing/2014/main" id="{D0396848-30E7-4606-B844-BB4DD86F6918}"/>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SITE DESIGN PRESENTATION</a:t>
            </a:r>
          </a:p>
        </p:txBody>
      </p:sp>
      <p:sp>
        <p:nvSpPr>
          <p:cNvPr id="7" name="">
            <a:extLst xmlns:a="http://schemas.openxmlformats.org/drawingml/2006/main">
              <a:ext uri="{FF2B5EF4-FFF2-40B4-BE49-F238E27FC236}">
                <a16:creationId xmlns:a16="http://schemas.microsoft.com/office/drawing/2014/main" id="{433C1AC7-2087-4959-9C77-BD27FC7AA676}"/>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01</a:t>
            </a:r>
          </a:p>
        </p:txBody>
      </p:sp>
    </p:spTree>
    <p:extLst>
      <p:ext uri="{BB962C8B-B14F-4D97-AF65-F5344CB8AC3E}">
        <p14:creationId xmlns:p14="http://schemas.microsoft.com/office/powerpoint/2010/main" val="1942878240"/>
      </p:ext>
    </p:extLst>
  </p:cSld>
</p:sld>
</file>

<file path=ppt/slides/slide2.xml><?xml version="1.0" encoding="utf-8"?>
<p:sld xmlns:p="http://schemas.openxmlformats.org/presentationml/2006/main">
  <p:cSld>
    <p:bg>
      <p:bgPr>
        <a:solidFill xmlns:a="http://schemas.openxmlformats.org/drawingml/2006/main">
          <a:srgbClr val="F1EE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DABA06-6FFE-489B-936C-CD3FF2085CC7}"/>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32"/>
          </a:bodyPr>
          <a:lstStyle xmlns:a="http://schemas.openxmlformats.org/drawingml/2006/main"/>
          <a:p xmlns:a="http://schemas.openxmlformats.org/drawingml/2006/main">
            <a:pPr>
              <a:defRPr sz="3150" b="1">
                <a:solidFill>
                  <a:srgbClr val="17201C"/>
                </a:solidFill>
                <a:latin typeface="Arial"/>
                <a:ea typeface="Arial"/>
                <a:cs typeface="Arial"/>
              </a:defRPr>
            </a:pPr>
            <a:r>
              <a:rPr sz="3150" b="1">
                <a:solidFill>
                  <a:srgbClr val="17201C"/>
                </a:solidFill>
                <a:latin typeface="Arial"/>
                <a:ea typeface="Arial"/>
                <a:cs typeface="Arial"/>
              </a:rPr>
              <a:t>Access, personalization, and saved views</a:t>
            </a:r>
          </a:p>
        </p:txBody>
      </p:sp>
      <p:sp>
        <p:nvSpPr>
          <p:cNvPr id="2" name="">
            <a:extLst xmlns:a="http://schemas.openxmlformats.org/drawingml/2006/main">
              <a:ext uri="{FF2B5EF4-FFF2-40B4-BE49-F238E27FC236}">
                <a16:creationId xmlns:a16="http://schemas.microsoft.com/office/drawing/2014/main" id="{C3A01A52-355D-451D-97DF-505AC5FC1EC0}"/>
              </a:ext>
            </a:extLst>
          </p:cNvPr>
          <p:cNvSpPr>
            <a:spLocks xmlns:a="http://schemas.openxmlformats.org/drawingml/2006/main" noGrp="1"/>
          </p:cNvSpPr>
          <p:nvPr/>
        </p:nvSpPr>
        <p:spPr>
          <a:xfrm xmlns:a="http://schemas.openxmlformats.org/drawingml/2006/main">
            <a:off x="628650" y="13525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309"/>
          </a:bodyPr>
          <a:lstStyle xmlns:a="http://schemas.openxmlformats.org/drawingml/2006/main"/>
          <a:p xmlns:a="http://schemas.openxmlformats.org/drawingml/2006/main">
            <a:pPr>
              <a:defRPr sz="2025" b="1">
                <a:solidFill>
                  <a:srgbClr val="087F5B"/>
                </a:solidFill>
                <a:latin typeface="Arial"/>
                <a:ea typeface="Arial"/>
                <a:cs typeface="Arial"/>
              </a:defRPr>
            </a:pPr>
            <a:r>
              <a:rPr sz="2025" b="1">
                <a:solidFill>
                  <a:srgbClr val="087F5B"/>
                </a:solidFill>
                <a:latin typeface="Arial"/>
                <a:ea typeface="Arial"/>
                <a:cs typeface="Arial"/>
              </a:rPr>
              <a:t>Account</a:t>
            </a:r>
          </a:p>
        </p:txBody>
      </p:sp>
      <p:sp>
        <p:nvSpPr>
          <p:cNvPr id="3" name="">
            <a:extLst xmlns:a="http://schemas.openxmlformats.org/drawingml/2006/main">
              <a:ext uri="{FF2B5EF4-FFF2-40B4-BE49-F238E27FC236}">
                <a16:creationId xmlns:a16="http://schemas.microsoft.com/office/drawing/2014/main" id="{79AC1FB8-B7B6-4D01-808A-40C0FF2C88C9}"/>
              </a:ext>
            </a:extLst>
          </p:cNvPr>
          <p:cNvSpPr>
            <a:spLocks xmlns:a="http://schemas.openxmlformats.org/drawingml/2006/main" noGrp="1"/>
          </p:cNvSpPr>
          <p:nvPr/>
        </p:nvSpPr>
        <p:spPr>
          <a:xfrm xmlns:a="http://schemas.openxmlformats.org/drawingml/2006/main">
            <a:off x="628650" y="1790700"/>
            <a:ext cx="3667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370"/>
          </a:bodyPr>
          <a:lstStyle xmlns:a="http://schemas.openxmlformats.org/drawingml/2006/main"/>
          <a:p xmlns:a="http://schemas.openxmlformats.org/drawingml/2006/main">
            <a:pPr>
              <a:defRPr sz="1800" b="0">
                <a:solidFill>
                  <a:srgbClr val="17201C"/>
                </a:solidFill>
                <a:latin typeface="Arial"/>
                <a:ea typeface="Arial"/>
                <a:cs typeface="Arial"/>
              </a:defRPr>
            </a:pPr>
            <a:r>
              <a:rPr sz="1800" b="0">
                <a:solidFill>
                  <a:srgbClr val="17201C"/>
                </a:solidFill>
                <a:latin typeface="Arial"/>
                <a:ea typeface="Arial"/>
                <a:cs typeface="Arial"/>
              </a:rPr>
              <a:t>Signed-in users keep saved views, language, and theme settings across devices.</a:t>
            </a:r>
          </a:p>
        </p:txBody>
      </p:sp>
      <p:sp>
        <p:nvSpPr>
          <p:cNvPr id="4" name="">
            <a:extLst xmlns:a="http://schemas.openxmlformats.org/drawingml/2006/main">
              <a:ext uri="{FF2B5EF4-FFF2-40B4-BE49-F238E27FC236}">
                <a16:creationId xmlns:a16="http://schemas.microsoft.com/office/drawing/2014/main" id="{80A5D4D5-340B-4F14-88F3-75B0DEAF1C54}"/>
              </a:ext>
            </a:extLst>
          </p:cNvPr>
          <p:cNvSpPr>
            <a:spLocks xmlns:a="http://schemas.openxmlformats.org/drawingml/2006/main" noGrp="1"/>
          </p:cNvSpPr>
          <p:nvPr/>
        </p:nvSpPr>
        <p:spPr>
          <a:xfrm xmlns:a="http://schemas.openxmlformats.org/drawingml/2006/main">
            <a:off x="628650" y="31051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309"/>
          </a:bodyPr>
          <a:lstStyle xmlns:a="http://schemas.openxmlformats.org/drawingml/2006/main"/>
          <a:p xmlns:a="http://schemas.openxmlformats.org/drawingml/2006/main">
            <a:pPr>
              <a:defRPr sz="2025" b="1">
                <a:solidFill>
                  <a:srgbClr val="087F5B"/>
                </a:solidFill>
                <a:latin typeface="Arial"/>
                <a:ea typeface="Arial"/>
                <a:cs typeface="Arial"/>
              </a:defRPr>
            </a:pPr>
            <a:r>
              <a:rPr sz="2025" b="1">
                <a:solidFill>
                  <a:srgbClr val="087F5B"/>
                </a:solidFill>
                <a:latin typeface="Arial"/>
                <a:ea typeface="Arial"/>
                <a:cs typeface="Arial"/>
              </a:rPr>
              <a:t>Guest</a:t>
            </a:r>
          </a:p>
        </p:txBody>
      </p:sp>
      <p:sp>
        <p:nvSpPr>
          <p:cNvPr id="5" name="">
            <a:extLst xmlns:a="http://schemas.openxmlformats.org/drawingml/2006/main">
              <a:ext uri="{FF2B5EF4-FFF2-40B4-BE49-F238E27FC236}">
                <a16:creationId xmlns:a16="http://schemas.microsoft.com/office/drawing/2014/main" id="{108CC3EA-16E6-4BC3-8710-AE060EDD1229}"/>
              </a:ext>
            </a:extLst>
          </p:cNvPr>
          <p:cNvSpPr>
            <a:spLocks xmlns:a="http://schemas.openxmlformats.org/drawingml/2006/main" noGrp="1"/>
          </p:cNvSpPr>
          <p:nvPr/>
        </p:nvSpPr>
        <p:spPr>
          <a:xfrm xmlns:a="http://schemas.openxmlformats.org/drawingml/2006/main">
            <a:off x="628650" y="3543300"/>
            <a:ext cx="3667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01C"/>
                </a:solidFill>
                <a:latin typeface="Arial"/>
                <a:ea typeface="Arial"/>
                <a:cs typeface="Arial"/>
              </a:defRPr>
            </a:pPr>
            <a:r>
              <a:rPr sz="1800" b="0">
                <a:solidFill>
                  <a:srgbClr val="17201C"/>
                </a:solidFill>
                <a:latin typeface="Arial"/>
                <a:ea typeface="Arial"/>
                <a:cs typeface="Arial"/>
              </a:rPr>
              <a:t>Guest access opens the evidence without storing customized views or activity history.</a:t>
            </a:r>
          </a:p>
        </p:txBody>
      </p:sp>
      <p:sp>
        <p:nvSpPr>
          <p:cNvPr id="6" name="">
            <a:extLst xmlns:a="http://schemas.openxmlformats.org/drawingml/2006/main">
              <a:ext uri="{FF2B5EF4-FFF2-40B4-BE49-F238E27FC236}">
                <a16:creationId xmlns:a16="http://schemas.microsoft.com/office/drawing/2014/main" id="{8FFF5BEC-A071-4B0C-B7C3-BDD591392FD8}"/>
              </a:ext>
            </a:extLst>
          </p:cNvPr>
          <p:cNvSpPr>
            <a:spLocks xmlns:a="http://schemas.openxmlformats.org/drawingml/2006/main" noGrp="1"/>
          </p:cNvSpPr>
          <p:nvPr/>
        </p:nvSpPr>
        <p:spPr>
          <a:xfrm xmlns:a="http://schemas.openxmlformats.org/drawingml/2006/main">
            <a:off x="628650" y="5000625"/>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406"/>
          </a:bodyPr>
          <a:lstStyle xmlns:a="http://schemas.openxmlformats.org/drawingml/2006/main"/>
          <a:p xmlns:a="http://schemas.openxmlformats.org/drawingml/2006/main">
            <a:pPr>
              <a:defRPr sz="1725" b="0">
                <a:solidFill>
                  <a:srgbClr val="59645D"/>
                </a:solidFill>
                <a:latin typeface="Arial"/>
                <a:ea typeface="Arial"/>
                <a:cs typeface="Arial"/>
              </a:defRPr>
            </a:pPr>
            <a:r>
              <a:rPr sz="1725" b="0">
                <a:solidFill>
                  <a:srgbClr val="59645D"/>
                </a:solidFill>
                <a:latin typeface="Arial"/>
                <a:ea typeface="Arial"/>
                <a:cs typeface="Arial"/>
              </a:rPr>
              <a:t>Six languages include Arabic RTL. Light, dark, and system themes remain available before and after sign-in.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683482b128b4a28"/>
          <a:stretch xmlns:a="http://schemas.openxmlformats.org/drawingml/2006/main"/>
        </p:blipFill>
        <p:spPr>
          <a:xfrm xmlns:a="http://schemas.openxmlformats.org/drawingml/2006/main">
            <a:off x="4762500" y="1349236"/>
            <a:ext cx="6800850" cy="431192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9453FE6-474A-476A-8BBB-8C29BFFA16F7}"/>
              </a:ext>
            </a:extLst>
          </p:cNvPr>
          <p:cNvSpPr>
            <a:spLocks xmlns:a="http://schemas.openxmlformats.org/drawingml/2006/main" noGrp="1"/>
          </p:cNvSpPr>
          <p:nvPr/>
        </p:nvSpPr>
        <p:spPr>
          <a:xfrm xmlns:a="http://schemas.openxmlformats.org/drawingml/2006/main">
            <a:off x="5048250" y="59817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347"/>
          </a:bodyPr>
          <a:lstStyle xmlns:a="http://schemas.openxmlformats.org/drawingml/2006/main"/>
          <a:p xmlns:a="http://schemas.openxmlformats.org/drawingml/2006/main">
            <a:pPr>
              <a:defRPr sz="1500" b="0">
                <a:solidFill>
                  <a:srgbClr val="59645D"/>
                </a:solidFill>
                <a:latin typeface="Arial"/>
                <a:ea typeface="Arial"/>
                <a:cs typeface="Arial"/>
              </a:defRPr>
            </a:pPr>
            <a:r>
              <a:rPr sz="1500" b="0">
                <a:solidFill>
                  <a:srgbClr val="59645D"/>
                </a:solidFill>
                <a:latin typeface="Arial"/>
                <a:ea typeface="Arial"/>
                <a:cs typeface="Arial"/>
              </a:rPr>
              <a:t>The entry page explains what persists before the user chooses an access path.</a:t>
            </a:r>
          </a:p>
        </p:txBody>
      </p:sp>
      <p:sp>
        <p:nvSpPr>
          <p:cNvPr id="9" name="">
            <a:extLst xmlns:a="http://schemas.openxmlformats.org/drawingml/2006/main">
              <a:ext uri="{FF2B5EF4-FFF2-40B4-BE49-F238E27FC236}">
                <a16:creationId xmlns:a16="http://schemas.microsoft.com/office/drawing/2014/main" id="{856097B8-7D1C-4E33-9C1F-E3AC43030D97}"/>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SITE DESIGN PRESENTATION</a:t>
            </a:r>
          </a:p>
        </p:txBody>
      </p:sp>
      <p:sp>
        <p:nvSpPr>
          <p:cNvPr id="10" name="">
            <a:extLst xmlns:a="http://schemas.openxmlformats.org/drawingml/2006/main">
              <a:ext uri="{FF2B5EF4-FFF2-40B4-BE49-F238E27FC236}">
                <a16:creationId xmlns:a16="http://schemas.microsoft.com/office/drawing/2014/main" id="{4F234C19-C16C-4F78-BA75-64952FC4D1CE}"/>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02</a:t>
            </a:r>
          </a:p>
        </p:txBody>
      </p:sp>
    </p:spTree>
    <p:extLst>
      <p:ext uri="{BB962C8B-B14F-4D97-AF65-F5344CB8AC3E}">
        <p14:creationId xmlns:p14="http://schemas.microsoft.com/office/powerpoint/2010/main" val="1570023760"/>
      </p:ext>
    </p:extLst>
  </p:cSld>
</p:sld>
</file>

<file path=ppt/slides/slide3.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91A2334-410F-4C03-A229-7C82093654B8}"/>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32"/>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Analysis controls</a:t>
            </a:r>
          </a:p>
        </p:txBody>
      </p:sp>
      <p:sp>
        <p:nvSpPr>
          <p:cNvPr id="2" name="">
            <a:extLst xmlns:a="http://schemas.openxmlformats.org/drawingml/2006/main">
              <a:ext uri="{FF2B5EF4-FFF2-40B4-BE49-F238E27FC236}">
                <a16:creationId xmlns:a16="http://schemas.microsoft.com/office/drawing/2014/main" id="{E36B6F92-144F-4D83-BD29-E08315274549}"/>
              </a:ext>
            </a:extLst>
          </p:cNvPr>
          <p:cNvSpPr>
            <a:spLocks xmlns:a="http://schemas.openxmlformats.org/drawingml/2006/main" noGrp="1"/>
          </p:cNvSpPr>
          <p:nvPr/>
        </p:nvSpPr>
        <p:spPr>
          <a:xfrm xmlns:a="http://schemas.openxmlformats.org/drawingml/2006/main">
            <a:off x="647700" y="13716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136"/>
          </a:bodyPr>
          <a:lstStyle xmlns:a="http://schemas.openxmlformats.org/drawingml/2006/main"/>
          <a:p xmlns:a="http://schemas.openxmlformats.org/drawingml/2006/main">
            <a:pPr>
              <a:defRPr sz="2025" b="1">
                <a:solidFill>
                  <a:srgbClr val="75DCBA"/>
                </a:solidFill>
                <a:latin typeface="Arial"/>
                <a:ea typeface="Arial"/>
                <a:cs typeface="Arial"/>
              </a:defRPr>
            </a:pPr>
            <a:r>
              <a:rPr sz="2025" b="1">
                <a:solidFill>
                  <a:srgbClr val="75DCBA"/>
                </a:solidFill>
                <a:latin typeface="Arial"/>
                <a:ea typeface="Arial"/>
                <a:cs typeface="Arial"/>
              </a:rPr>
              <a:t>Dataset</a:t>
            </a:r>
          </a:p>
        </p:txBody>
      </p:sp>
      <p:sp>
        <p:nvSpPr>
          <p:cNvPr id="3" name="">
            <a:extLst xmlns:a="http://schemas.openxmlformats.org/drawingml/2006/main">
              <a:ext uri="{FF2B5EF4-FFF2-40B4-BE49-F238E27FC236}">
                <a16:creationId xmlns:a16="http://schemas.microsoft.com/office/drawing/2014/main" id="{2DB917FE-F76E-49E8-B293-1442100CF598}"/>
              </a:ext>
            </a:extLst>
          </p:cNvPr>
          <p:cNvSpPr>
            <a:spLocks xmlns:a="http://schemas.openxmlformats.org/drawingml/2006/main" noGrp="1"/>
          </p:cNvSpPr>
          <p:nvPr/>
        </p:nvSpPr>
        <p:spPr>
          <a:xfrm xmlns:a="http://schemas.openxmlformats.org/drawingml/2006/main">
            <a:off x="647700" y="1781175"/>
            <a:ext cx="3714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820"/>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Switch between the supplied 15-country file and the Expanded 50 snapshot.</a:t>
            </a:r>
          </a:p>
        </p:txBody>
      </p:sp>
      <p:sp>
        <p:nvSpPr>
          <p:cNvPr id="4" name="">
            <a:extLst xmlns:a="http://schemas.openxmlformats.org/drawingml/2006/main">
              <a:ext uri="{FF2B5EF4-FFF2-40B4-BE49-F238E27FC236}">
                <a16:creationId xmlns:a16="http://schemas.microsoft.com/office/drawing/2014/main" id="{0B48CFF5-3159-4242-8BD8-9A004D570385}"/>
              </a:ext>
            </a:extLst>
          </p:cNvPr>
          <p:cNvSpPr>
            <a:spLocks xmlns:a="http://schemas.openxmlformats.org/drawingml/2006/main" noGrp="1"/>
          </p:cNvSpPr>
          <p:nvPr/>
        </p:nvSpPr>
        <p:spPr>
          <a:xfrm xmlns:a="http://schemas.openxmlformats.org/drawingml/2006/main">
            <a:off x="647700" y="28384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136"/>
          </a:bodyPr>
          <a:lstStyle xmlns:a="http://schemas.openxmlformats.org/drawingml/2006/main"/>
          <a:p xmlns:a="http://schemas.openxmlformats.org/drawingml/2006/main">
            <a:pPr>
              <a:defRPr sz="2025" b="1">
                <a:solidFill>
                  <a:srgbClr val="75DCBA"/>
                </a:solidFill>
                <a:latin typeface="Arial"/>
                <a:ea typeface="Arial"/>
                <a:cs typeface="Arial"/>
              </a:defRPr>
            </a:pPr>
            <a:r>
              <a:rPr sz="2025" b="1">
                <a:solidFill>
                  <a:srgbClr val="75DCBA"/>
                </a:solidFill>
                <a:latin typeface="Arial"/>
                <a:ea typeface="Arial"/>
                <a:cs typeface="Arial"/>
              </a:rPr>
              <a:t>Scope and display</a:t>
            </a:r>
          </a:p>
        </p:txBody>
      </p:sp>
      <p:sp>
        <p:nvSpPr>
          <p:cNvPr id="5" name="">
            <a:extLst xmlns:a="http://schemas.openxmlformats.org/drawingml/2006/main">
              <a:ext uri="{FF2B5EF4-FFF2-40B4-BE49-F238E27FC236}">
                <a16:creationId xmlns:a16="http://schemas.microsoft.com/office/drawing/2014/main" id="{57421AC4-E9D5-4E73-BB5C-EF9D738F2FB2}"/>
              </a:ext>
            </a:extLst>
          </p:cNvPr>
          <p:cNvSpPr>
            <a:spLocks xmlns:a="http://schemas.openxmlformats.org/drawingml/2006/main" noGrp="1"/>
          </p:cNvSpPr>
          <p:nvPr/>
        </p:nvSpPr>
        <p:spPr>
          <a:xfrm xmlns:a="http://schemas.openxmlformats.org/drawingml/2006/main">
            <a:off x="647700" y="3248025"/>
            <a:ext cx="3714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17"/>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Choose countries or regions, then compare members or generation-weighted aggregates.</a:t>
            </a:r>
          </a:p>
        </p:txBody>
      </p:sp>
      <p:sp>
        <p:nvSpPr>
          <p:cNvPr id="6" name="">
            <a:extLst xmlns:a="http://schemas.openxmlformats.org/drawingml/2006/main">
              <a:ext uri="{FF2B5EF4-FFF2-40B4-BE49-F238E27FC236}">
                <a16:creationId xmlns:a16="http://schemas.microsoft.com/office/drawing/2014/main" id="{CFCB85E6-F01A-435A-BDE3-AE09BA156B59}"/>
              </a:ext>
            </a:extLst>
          </p:cNvPr>
          <p:cNvSpPr>
            <a:spLocks xmlns:a="http://schemas.openxmlformats.org/drawingml/2006/main" noGrp="1"/>
          </p:cNvSpPr>
          <p:nvPr/>
        </p:nvSpPr>
        <p:spPr>
          <a:xfrm xmlns:a="http://schemas.openxmlformats.org/drawingml/2006/main">
            <a:off x="647700" y="45148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136"/>
          </a:bodyPr>
          <a:lstStyle xmlns:a="http://schemas.openxmlformats.org/drawingml/2006/main"/>
          <a:p xmlns:a="http://schemas.openxmlformats.org/drawingml/2006/main">
            <a:pPr>
              <a:defRPr sz="2025" b="1">
                <a:solidFill>
                  <a:srgbClr val="75DCBA"/>
                </a:solidFill>
                <a:latin typeface="Arial"/>
                <a:ea typeface="Arial"/>
                <a:cs typeface="Arial"/>
              </a:defRPr>
            </a:pPr>
            <a:r>
              <a:rPr sz="2025" b="1">
                <a:solidFill>
                  <a:srgbClr val="75DCBA"/>
                </a:solidFill>
                <a:latin typeface="Arial"/>
                <a:ea typeface="Arial"/>
                <a:cs typeface="Arial"/>
              </a:rPr>
              <a:t>Metric and focus</a:t>
            </a:r>
          </a:p>
        </p:txBody>
      </p:sp>
      <p:sp>
        <p:nvSpPr>
          <p:cNvPr id="7" name="">
            <a:extLst xmlns:a="http://schemas.openxmlformats.org/drawingml/2006/main">
              <a:ext uri="{FF2B5EF4-FFF2-40B4-BE49-F238E27FC236}">
                <a16:creationId xmlns:a16="http://schemas.microsoft.com/office/drawing/2014/main" id="{D750CF95-410F-4C20-B6CF-AE95DC117311}"/>
              </a:ext>
            </a:extLst>
          </p:cNvPr>
          <p:cNvSpPr>
            <a:spLocks xmlns:a="http://schemas.openxmlformats.org/drawingml/2006/main" noGrp="1"/>
          </p:cNvSpPr>
          <p:nvPr/>
        </p:nvSpPr>
        <p:spPr>
          <a:xfrm xmlns:a="http://schemas.openxmlformats.org/drawingml/2006/main">
            <a:off x="647700" y="4924425"/>
            <a:ext cx="3810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263"/>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Set the price audience and map metric. Focus countries control the comparison charts while the wider scope stays visible.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c69af30078d4336"/>
          <a:stretch xmlns:a="http://schemas.openxmlformats.org/drawingml/2006/main"/>
        </p:blipFill>
        <p:spPr>
          <a:xfrm xmlns:a="http://schemas.openxmlformats.org/drawingml/2006/main">
            <a:off x="5286723" y="1085850"/>
            <a:ext cx="2190055" cy="500062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ec129aeb3854c2e"/>
          <a:stretch xmlns:a="http://schemas.openxmlformats.org/drawingml/2006/main"/>
        </p:blipFill>
        <p:spPr>
          <a:xfrm xmlns:a="http://schemas.openxmlformats.org/drawingml/2006/main">
            <a:off x="8429973" y="1085850"/>
            <a:ext cx="2190055" cy="5000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DFE971F-C515-4B2F-9180-9E8442FFCB2D}"/>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D8E5DF"/>
                </a:solidFill>
                <a:latin typeface="Arial"/>
                <a:ea typeface="Arial"/>
                <a:cs typeface="Arial"/>
              </a:defRPr>
            </a:pPr>
            <a:r>
              <a:rPr sz="900" b="1">
                <a:solidFill>
                  <a:srgbClr val="D8E5DF"/>
                </a:solidFill>
                <a:latin typeface="Arial"/>
                <a:ea typeface="Arial"/>
                <a:cs typeface="Arial"/>
              </a:rPr>
              <a:t>SITE DESIGN PRESENTATION</a:t>
            </a:r>
          </a:p>
        </p:txBody>
      </p:sp>
      <p:sp>
        <p:nvSpPr>
          <p:cNvPr id="11" name="">
            <a:extLst xmlns:a="http://schemas.openxmlformats.org/drawingml/2006/main">
              <a:ext uri="{FF2B5EF4-FFF2-40B4-BE49-F238E27FC236}">
                <a16:creationId xmlns:a16="http://schemas.microsoft.com/office/drawing/2014/main" id="{D669FA9A-19AF-4C7F-B076-A905BF82E2FC}"/>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D8E5DF"/>
                </a:solidFill>
                <a:latin typeface="Arial"/>
                <a:ea typeface="Arial"/>
                <a:cs typeface="Arial"/>
              </a:defRPr>
            </a:pPr>
            <a:r>
              <a:rPr sz="900" b="1">
                <a:solidFill>
                  <a:srgbClr val="D8E5DF"/>
                </a:solidFill>
                <a:latin typeface="Arial"/>
                <a:ea typeface="Arial"/>
                <a:cs typeface="Arial"/>
              </a:rPr>
              <a:t>03</a:t>
            </a:r>
          </a:p>
        </p:txBody>
      </p:sp>
    </p:spTree>
    <p:extLst>
      <p:ext uri="{BB962C8B-B14F-4D97-AF65-F5344CB8AC3E}">
        <p14:creationId xmlns:p14="http://schemas.microsoft.com/office/powerpoint/2010/main" val="1248473031"/>
      </p:ext>
    </p:extLst>
  </p:cSld>
</p:sld>
</file>

<file path=ppt/slides/slide4.xml><?xml version="1.0" encoding="utf-8"?>
<p:sld xmlns:p="http://schemas.openxmlformats.org/presentationml/2006/main">
  <p:cSld>
    <p:bg>
      <p:bgPr>
        <a:solidFill xmlns:a="http://schemas.openxmlformats.org/drawingml/2006/main">
          <a:srgbClr val="F1EEE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5F13F3-9914-4AC9-921A-0AAD057DC614}"/>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32"/>
          </a:bodyPr>
          <a:lstStyle xmlns:a="http://schemas.openxmlformats.org/drawingml/2006/main"/>
          <a:p xmlns:a="http://schemas.openxmlformats.org/drawingml/2006/main">
            <a:pPr>
              <a:defRPr sz="3150" b="1">
                <a:solidFill>
                  <a:srgbClr val="17201C"/>
                </a:solidFill>
                <a:latin typeface="Arial"/>
                <a:ea typeface="Arial"/>
                <a:cs typeface="Arial"/>
              </a:defRPr>
            </a:pPr>
            <a:r>
              <a:rPr sz="3150" b="1">
                <a:solidFill>
                  <a:srgbClr val="17201C"/>
                </a:solidFill>
                <a:latin typeface="Arial"/>
                <a:ea typeface="Arial"/>
                <a:cs typeface="Arial"/>
              </a:rPr>
              <a:t>Map evidence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52fc330a59e4f07"/>
          <a:stretch xmlns:a="http://schemas.openxmlformats.org/drawingml/2006/main"/>
        </p:blipFill>
        <p:spPr>
          <a:xfrm xmlns:a="http://schemas.openxmlformats.org/drawingml/2006/main">
            <a:off x="3000903" y="1066800"/>
            <a:ext cx="6190195" cy="4629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F8814B-1513-41AE-9D77-49CA714AFA1E}"/>
              </a:ext>
            </a:extLst>
          </p:cNvPr>
          <p:cNvSpPr>
            <a:spLocks xmlns:a="http://schemas.openxmlformats.org/drawingml/2006/main" noGrp="1"/>
          </p:cNvSpPr>
          <p:nvPr/>
        </p:nvSpPr>
        <p:spPr>
          <a:xfrm xmlns:a="http://schemas.openxmlformats.org/drawingml/2006/main">
            <a:off x="742950" y="58674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a:solidFill>
                  <a:srgbClr val="087F5B"/>
                </a:solidFill>
                <a:latin typeface="Arial"/>
                <a:ea typeface="Arial"/>
                <a:cs typeface="Arial"/>
              </a:defRPr>
            </a:pPr>
            <a:r>
              <a:rPr sz="1500" b="1">
                <a:solidFill>
                  <a:srgbClr val="087F5B"/>
                </a:solidFill>
                <a:latin typeface="Arial"/>
                <a:ea typeface="Arial"/>
                <a:cs typeface="Arial"/>
              </a:rPr>
              <a:t>Metric and units</a:t>
            </a:r>
          </a:p>
        </p:txBody>
      </p:sp>
      <p:sp>
        <p:nvSpPr>
          <p:cNvPr id="4" name="">
            <a:extLst xmlns:a="http://schemas.openxmlformats.org/drawingml/2006/main">
              <a:ext uri="{FF2B5EF4-FFF2-40B4-BE49-F238E27FC236}">
                <a16:creationId xmlns:a16="http://schemas.microsoft.com/office/drawing/2014/main" id="{E36B88FC-A1BF-47AF-B44F-038A0852DAB7}"/>
              </a:ext>
            </a:extLst>
          </p:cNvPr>
          <p:cNvSpPr>
            <a:spLocks xmlns:a="http://schemas.openxmlformats.org/drawingml/2006/main" noGrp="1"/>
          </p:cNvSpPr>
          <p:nvPr/>
        </p:nvSpPr>
        <p:spPr>
          <a:xfrm xmlns:a="http://schemas.openxmlformats.org/drawingml/2006/main">
            <a:off x="3638550" y="58674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a:solidFill>
                  <a:srgbClr val="087F5B"/>
                </a:solidFill>
                <a:latin typeface="Arial"/>
                <a:ea typeface="Arial"/>
                <a:cs typeface="Arial"/>
              </a:defRPr>
            </a:pPr>
            <a:r>
              <a:rPr sz="1500" b="1">
                <a:solidFill>
                  <a:srgbClr val="087F5B"/>
                </a:solidFill>
                <a:latin typeface="Arial"/>
                <a:ea typeface="Arial"/>
                <a:cs typeface="Arial"/>
              </a:rPr>
              <a:t>Zoom and reset</a:t>
            </a:r>
          </a:p>
        </p:txBody>
      </p:sp>
      <p:sp>
        <p:nvSpPr>
          <p:cNvPr id="5" name="">
            <a:extLst xmlns:a="http://schemas.openxmlformats.org/drawingml/2006/main">
              <a:ext uri="{FF2B5EF4-FFF2-40B4-BE49-F238E27FC236}">
                <a16:creationId xmlns:a16="http://schemas.microsoft.com/office/drawing/2014/main" id="{C67BF31E-4CC1-4AB8-9ABE-51443FE369DB}"/>
              </a:ext>
            </a:extLst>
          </p:cNvPr>
          <p:cNvSpPr>
            <a:spLocks xmlns:a="http://schemas.openxmlformats.org/drawingml/2006/main" noGrp="1"/>
          </p:cNvSpPr>
          <p:nvPr/>
        </p:nvSpPr>
        <p:spPr>
          <a:xfrm xmlns:a="http://schemas.openxmlformats.org/drawingml/2006/main">
            <a:off x="6381750" y="58674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a:solidFill>
                  <a:srgbClr val="087F5B"/>
                </a:solidFill>
                <a:latin typeface="Arial"/>
                <a:ea typeface="Arial"/>
                <a:cs typeface="Arial"/>
              </a:defRPr>
            </a:pPr>
            <a:r>
              <a:rPr sz="1500" b="1">
                <a:solidFill>
                  <a:srgbClr val="087F5B"/>
                </a:solidFill>
                <a:latin typeface="Arial"/>
                <a:ea typeface="Arial"/>
                <a:cs typeface="Arial"/>
              </a:rPr>
              <a:t>Country selection</a:t>
            </a:r>
          </a:p>
        </p:txBody>
      </p:sp>
      <p:sp>
        <p:nvSpPr>
          <p:cNvPr id="6" name="">
            <a:extLst xmlns:a="http://schemas.openxmlformats.org/drawingml/2006/main">
              <a:ext uri="{FF2B5EF4-FFF2-40B4-BE49-F238E27FC236}">
                <a16:creationId xmlns:a16="http://schemas.microsoft.com/office/drawing/2014/main" id="{63393B12-0C0E-4672-8BD0-A4715E463FE7}"/>
              </a:ext>
            </a:extLst>
          </p:cNvPr>
          <p:cNvSpPr>
            <a:spLocks xmlns:a="http://schemas.openxmlformats.org/drawingml/2006/main" noGrp="1"/>
          </p:cNvSpPr>
          <p:nvPr/>
        </p:nvSpPr>
        <p:spPr>
          <a:xfrm xmlns:a="http://schemas.openxmlformats.org/drawingml/2006/main">
            <a:off x="9144000" y="5867400"/>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a:solidFill>
                  <a:srgbClr val="087F5B"/>
                </a:solidFill>
                <a:latin typeface="Arial"/>
                <a:ea typeface="Arial"/>
                <a:cs typeface="Arial"/>
              </a:defRPr>
            </a:pPr>
            <a:r>
              <a:rPr sz="1500" b="1">
                <a:solidFill>
                  <a:srgbClr val="087F5B"/>
                </a:solidFill>
                <a:latin typeface="Arial"/>
                <a:ea typeface="Arial"/>
                <a:cs typeface="Arial"/>
              </a:rPr>
              <a:t>Scope and focus marks</a:t>
            </a:r>
          </a:p>
        </p:txBody>
      </p:sp>
      <p:sp>
        <p:nvSpPr>
          <p:cNvPr id="7" name="">
            <a:extLst xmlns:a="http://schemas.openxmlformats.org/drawingml/2006/main">
              <a:ext uri="{FF2B5EF4-FFF2-40B4-BE49-F238E27FC236}">
                <a16:creationId xmlns:a16="http://schemas.microsoft.com/office/drawing/2014/main" id="{666DB23C-191C-4BD2-ABBE-CACA963EBBE3}"/>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SITE DESIGN PRESENTATION</a:t>
            </a:r>
          </a:p>
        </p:txBody>
      </p:sp>
      <p:sp>
        <p:nvSpPr>
          <p:cNvPr id="8" name="">
            <a:extLst xmlns:a="http://schemas.openxmlformats.org/drawingml/2006/main">
              <a:ext uri="{FF2B5EF4-FFF2-40B4-BE49-F238E27FC236}">
                <a16:creationId xmlns:a16="http://schemas.microsoft.com/office/drawing/2014/main" id="{74849241-5DC7-4EB3-9D57-AD333029B4E9}"/>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04</a:t>
            </a:r>
          </a:p>
        </p:txBody>
      </p:sp>
    </p:spTree>
    <p:extLst>
      <p:ext uri="{BB962C8B-B14F-4D97-AF65-F5344CB8AC3E}">
        <p14:creationId xmlns:p14="http://schemas.microsoft.com/office/powerpoint/2010/main" val="206257404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D00AFD1-553C-4C44-A366-2767B63BD7D1}"/>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32"/>
          </a:bodyPr>
          <a:lstStyle xmlns:a="http://schemas.openxmlformats.org/drawingml/2006/main"/>
          <a:p xmlns:a="http://schemas.openxmlformats.org/drawingml/2006/main">
            <a:pPr>
              <a:defRPr sz="3150" b="1">
                <a:solidFill>
                  <a:srgbClr val="17201C"/>
                </a:solidFill>
                <a:latin typeface="Arial"/>
                <a:ea typeface="Arial"/>
                <a:cs typeface="Arial"/>
              </a:defRPr>
            </a:pPr>
            <a:r>
              <a:rPr sz="3150" b="1">
                <a:solidFill>
                  <a:srgbClr val="17201C"/>
                </a:solidFill>
                <a:latin typeface="Arial"/>
                <a:ea typeface="Arial"/>
                <a:cs typeface="Arial"/>
              </a:rPr>
              <a:t>Cost, mix, balance, and records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a0e52dfe2fb484b"/>
          <a:stretch xmlns:a="http://schemas.openxmlformats.org/drawingml/2006/main"/>
        </p:blipFill>
        <p:spPr>
          <a:xfrm xmlns:a="http://schemas.openxmlformats.org/drawingml/2006/main">
            <a:off x="590550" y="1727569"/>
            <a:ext cx="5334000" cy="2698012"/>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1ca754ac7f14705"/>
          <a:stretch xmlns:a="http://schemas.openxmlformats.org/drawingml/2006/main"/>
        </p:blipFill>
        <p:spPr>
          <a:xfrm xmlns:a="http://schemas.openxmlformats.org/drawingml/2006/main">
            <a:off x="6267450" y="1748890"/>
            <a:ext cx="5334000" cy="265537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0350B0A-C753-47A6-AC24-C18AE6961C90}"/>
              </a:ext>
            </a:extLst>
          </p:cNvPr>
          <p:cNvSpPr>
            <a:spLocks xmlns:a="http://schemas.openxmlformats.org/drawingml/2006/main" noGrp="1"/>
          </p:cNvSpPr>
          <p:nvPr/>
        </p:nvSpPr>
        <p:spPr>
          <a:xfrm xmlns:a="http://schemas.openxmlformats.org/drawingml/2006/main">
            <a:off x="685800" y="5219700"/>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a:solidFill>
                  <a:srgbClr val="087F5B"/>
                </a:solidFill>
                <a:latin typeface="Arial"/>
                <a:ea typeface="Arial"/>
                <a:cs typeface="Arial"/>
              </a:defRPr>
            </a:pPr>
            <a:r>
              <a:rPr sz="1500" b="1">
                <a:solidFill>
                  <a:srgbClr val="087F5B"/>
                </a:solidFill>
                <a:latin typeface="Arial"/>
                <a:ea typeface="Arial"/>
                <a:cs typeface="Arial"/>
              </a:rPr>
              <a:t>Cost x Mix and Electricity mix</a:t>
            </a:r>
          </a:p>
        </p:txBody>
      </p:sp>
      <p:sp>
        <p:nvSpPr>
          <p:cNvPr id="5" name="">
            <a:extLst xmlns:a="http://schemas.openxmlformats.org/drawingml/2006/main">
              <a:ext uri="{FF2B5EF4-FFF2-40B4-BE49-F238E27FC236}">
                <a16:creationId xmlns:a16="http://schemas.microsoft.com/office/drawing/2014/main" id="{13FF05E9-2133-4F33-AD6E-3671671707D9}"/>
              </a:ext>
            </a:extLst>
          </p:cNvPr>
          <p:cNvSpPr>
            <a:spLocks xmlns:a="http://schemas.openxmlformats.org/drawingml/2006/main" noGrp="1"/>
          </p:cNvSpPr>
          <p:nvPr/>
        </p:nvSpPr>
        <p:spPr>
          <a:xfrm xmlns:a="http://schemas.openxmlformats.org/drawingml/2006/main">
            <a:off x="685800" y="55816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852"/>
          </a:bodyPr>
          <a:lstStyle xmlns:a="http://schemas.openxmlformats.org/drawingml/2006/main"/>
          <a:p xmlns:a="http://schemas.openxmlformats.org/drawingml/2006/main">
            <a:pPr>
              <a:defRPr sz="1500" b="0">
                <a:solidFill>
                  <a:srgbClr val="59645D"/>
                </a:solidFill>
                <a:latin typeface="Arial"/>
                <a:ea typeface="Arial"/>
                <a:cs typeface="Arial"/>
              </a:defRPr>
            </a:pPr>
            <a:r>
              <a:rPr sz="1500" b="0">
                <a:solidFill>
                  <a:srgbClr val="59645D"/>
                </a:solidFill>
                <a:latin typeface="Arial"/>
                <a:ea typeface="Arial"/>
                <a:cs typeface="Arial"/>
              </a:rPr>
              <a:t>Median lines frame the price and non-fossil screen. The normalized stacked bars preserve composition and end at 100 percent.</a:t>
            </a:r>
          </a:p>
        </p:txBody>
      </p:sp>
      <p:sp>
        <p:nvSpPr>
          <p:cNvPr id="6" name="">
            <a:extLst xmlns:a="http://schemas.openxmlformats.org/drawingml/2006/main">
              <a:ext uri="{FF2B5EF4-FFF2-40B4-BE49-F238E27FC236}">
                <a16:creationId xmlns:a16="http://schemas.microsoft.com/office/drawing/2014/main" id="{4E6BAB6C-B2D8-45FE-9C8B-900315542F75}"/>
              </a:ext>
            </a:extLst>
          </p:cNvPr>
          <p:cNvSpPr>
            <a:spLocks xmlns:a="http://schemas.openxmlformats.org/drawingml/2006/main" noGrp="1"/>
          </p:cNvSpPr>
          <p:nvPr/>
        </p:nvSpPr>
        <p:spPr>
          <a:xfrm xmlns:a="http://schemas.openxmlformats.org/drawingml/2006/main">
            <a:off x="6381750" y="52197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a:solidFill>
                  <a:srgbClr val="087F5B"/>
                </a:solidFill>
                <a:latin typeface="Arial"/>
                <a:ea typeface="Arial"/>
                <a:cs typeface="Arial"/>
              </a:defRPr>
            </a:pPr>
            <a:r>
              <a:rPr sz="1500" b="1">
                <a:solidFill>
                  <a:srgbClr val="087F5B"/>
                </a:solidFill>
                <a:latin typeface="Arial"/>
                <a:ea typeface="Arial"/>
                <a:cs typeface="Arial"/>
              </a:rPr>
              <a:t>Balance, Evidence table, and CSV</a:t>
            </a:r>
          </a:p>
        </p:txBody>
      </p:sp>
      <p:sp>
        <p:nvSpPr>
          <p:cNvPr id="7" name="">
            <a:extLst xmlns:a="http://schemas.openxmlformats.org/drawingml/2006/main">
              <a:ext uri="{FF2B5EF4-FFF2-40B4-BE49-F238E27FC236}">
                <a16:creationId xmlns:a16="http://schemas.microsoft.com/office/drawing/2014/main" id="{AFBAD94D-49FA-48D3-AE1B-C8DB39DB6FA1}"/>
              </a:ext>
            </a:extLst>
          </p:cNvPr>
          <p:cNvSpPr>
            <a:spLocks xmlns:a="http://schemas.openxmlformats.org/drawingml/2006/main" noGrp="1"/>
          </p:cNvSpPr>
          <p:nvPr/>
        </p:nvSpPr>
        <p:spPr>
          <a:xfrm xmlns:a="http://schemas.openxmlformats.org/drawingml/2006/main">
            <a:off x="6381750" y="55816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59645D"/>
                </a:solidFill>
                <a:latin typeface="Arial"/>
                <a:ea typeface="Arial"/>
                <a:cs typeface="Arial"/>
              </a:defRPr>
            </a:pPr>
            <a:r>
              <a:rPr sz="1500" b="0">
                <a:solidFill>
                  <a:srgbClr val="59645D"/>
                </a:solidFill>
                <a:latin typeface="Arial"/>
                <a:ea typeface="Arial"/>
                <a:cs typeface="Arial"/>
              </a:rPr>
              <a:t>Periods, fallback flags, and stable machine fields carry the visual comparison into the downloadable record.</a:t>
            </a:r>
          </a:p>
        </p:txBody>
      </p:sp>
      <p:sp>
        <p:nvSpPr>
          <p:cNvPr id="8" name="">
            <a:extLst xmlns:a="http://schemas.openxmlformats.org/drawingml/2006/main">
              <a:ext uri="{FF2B5EF4-FFF2-40B4-BE49-F238E27FC236}">
                <a16:creationId xmlns:a16="http://schemas.microsoft.com/office/drawing/2014/main" id="{9E8B8D64-530C-4D22-98F0-8531056E70E5}"/>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SITE DESIGN PRESENTATION</a:t>
            </a:r>
          </a:p>
        </p:txBody>
      </p:sp>
      <p:sp>
        <p:nvSpPr>
          <p:cNvPr id="9" name="">
            <a:extLst xmlns:a="http://schemas.openxmlformats.org/drawingml/2006/main">
              <a:ext uri="{FF2B5EF4-FFF2-40B4-BE49-F238E27FC236}">
                <a16:creationId xmlns:a16="http://schemas.microsoft.com/office/drawing/2014/main" id="{CBB88CF5-EB41-42ED-BCC2-D30C8514C962}"/>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05</a:t>
            </a:r>
          </a:p>
        </p:txBody>
      </p:sp>
    </p:spTree>
    <p:extLst>
      <p:ext uri="{BB962C8B-B14F-4D97-AF65-F5344CB8AC3E}">
        <p14:creationId xmlns:p14="http://schemas.microsoft.com/office/powerpoint/2010/main" val="652627756"/>
      </p:ext>
    </p:extLst>
  </p:cSld>
</p:sld>
</file>

<file path=ppt/slides/slide6.xml><?xml version="1.0" encoding="utf-8"?>
<p:sld xmlns:p="http://schemas.openxmlformats.org/presentationml/2006/main">
  <p:cSld>
    <p:bg>
      <p:bgPr>
        <a:solidFill xmlns:a="http://schemas.openxmlformats.org/drawingml/2006/main">
          <a:srgbClr val="F1EE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AFFCE6-EE5E-4E10-A8B1-EBCF117FEC83}"/>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32"/>
          </a:bodyPr>
          <a:lstStyle xmlns:a="http://schemas.openxmlformats.org/drawingml/2006/main"/>
          <a:p xmlns:a="http://schemas.openxmlformats.org/drawingml/2006/main">
            <a:pPr>
              <a:defRPr sz="3150" b="1">
                <a:solidFill>
                  <a:srgbClr val="17201C"/>
                </a:solidFill>
                <a:latin typeface="Arial"/>
                <a:ea typeface="Arial"/>
                <a:cs typeface="Arial"/>
              </a:defRPr>
            </a:pPr>
            <a:r>
              <a:rPr sz="3150" b="1">
                <a:solidFill>
                  <a:srgbClr val="17201C"/>
                </a:solidFill>
                <a:latin typeface="Arial"/>
                <a:ea typeface="Arial"/>
                <a:cs typeface="Arial"/>
              </a:rPr>
              <a:t>Fixed story views and dynamic Signals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84c696738a34dcb"/>
          <a:stretch xmlns:a="http://schemas.openxmlformats.org/drawingml/2006/main"/>
        </p:blipFill>
        <p:spPr>
          <a:xfrm xmlns:a="http://schemas.openxmlformats.org/drawingml/2006/main">
            <a:off x="1227121" y="1123950"/>
            <a:ext cx="3984658" cy="38862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32e564f811b470e"/>
          <a:stretch xmlns:a="http://schemas.openxmlformats.org/drawingml/2006/main"/>
        </p:blipFill>
        <p:spPr>
          <a:xfrm xmlns:a="http://schemas.openxmlformats.org/drawingml/2006/main">
            <a:off x="6305550" y="1223796"/>
            <a:ext cx="5334000" cy="368650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562122E-0D98-47E7-9E1B-4C28604953F5}"/>
              </a:ext>
            </a:extLst>
          </p:cNvPr>
          <p:cNvSpPr>
            <a:spLocks xmlns:a="http://schemas.openxmlformats.org/drawingml/2006/main" noGrp="1"/>
          </p:cNvSpPr>
          <p:nvPr/>
        </p:nvSpPr>
        <p:spPr>
          <a:xfrm xmlns:a="http://schemas.openxmlformats.org/drawingml/2006/main">
            <a:off x="666750" y="52197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952"/>
          </a:bodyPr>
          <a:lstStyle xmlns:a="http://schemas.openxmlformats.org/drawingml/2006/main"/>
          <a:p xmlns:a="http://schemas.openxmlformats.org/drawingml/2006/main">
            <a:pPr>
              <a:defRPr sz="1575" b="1">
                <a:solidFill>
                  <a:srgbClr val="087F5B"/>
                </a:solidFill>
                <a:latin typeface="Arial"/>
                <a:ea typeface="Arial"/>
                <a:cs typeface="Arial"/>
              </a:defRPr>
            </a:pPr>
            <a:r>
              <a:rPr sz="1575" b="1">
                <a:solidFill>
                  <a:srgbClr val="087F5B"/>
                </a:solidFill>
                <a:latin typeface="Arial"/>
                <a:ea typeface="Arial"/>
                <a:cs typeface="Arial"/>
              </a:rPr>
              <a:t>Fixed views</a:t>
            </a:r>
          </a:p>
        </p:txBody>
      </p:sp>
      <p:sp>
        <p:nvSpPr>
          <p:cNvPr id="5" name="">
            <a:extLst xmlns:a="http://schemas.openxmlformats.org/drawingml/2006/main">
              <a:ext uri="{FF2B5EF4-FFF2-40B4-BE49-F238E27FC236}">
                <a16:creationId xmlns:a16="http://schemas.microsoft.com/office/drawing/2014/main" id="{7CF76324-9068-4E32-983E-5A80307BE932}"/>
              </a:ext>
            </a:extLst>
          </p:cNvPr>
          <p:cNvSpPr>
            <a:spLocks xmlns:a="http://schemas.openxmlformats.org/drawingml/2006/main" noGrp="1"/>
          </p:cNvSpPr>
          <p:nvPr/>
        </p:nvSpPr>
        <p:spPr>
          <a:xfrm xmlns:a="http://schemas.openxmlformats.org/drawingml/2006/main">
            <a:off x="666750" y="556260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59645D"/>
                </a:solidFill>
                <a:latin typeface="Arial"/>
                <a:ea typeface="Arial"/>
                <a:cs typeface="Arial"/>
              </a:defRPr>
            </a:pPr>
            <a:r>
              <a:rPr sz="1500" b="0">
                <a:solidFill>
                  <a:srgbClr val="59645D"/>
                </a:solidFill>
                <a:latin typeface="Arial"/>
                <a:ea typeface="Arial"/>
                <a:cs typeface="Arial"/>
              </a:rPr>
              <a:t>One action applies the full scope, focus, metric, and sort configuration while keeping language and theme.</a:t>
            </a:r>
          </a:p>
        </p:txBody>
      </p:sp>
      <p:sp>
        <p:nvSpPr>
          <p:cNvPr id="6" name="">
            <a:extLst xmlns:a="http://schemas.openxmlformats.org/drawingml/2006/main">
              <a:ext uri="{FF2B5EF4-FFF2-40B4-BE49-F238E27FC236}">
                <a16:creationId xmlns:a16="http://schemas.microsoft.com/office/drawing/2014/main" id="{C917845F-7A4D-499D-866D-717D2263B264}"/>
              </a:ext>
            </a:extLst>
          </p:cNvPr>
          <p:cNvSpPr>
            <a:spLocks xmlns:a="http://schemas.openxmlformats.org/drawingml/2006/main" noGrp="1"/>
          </p:cNvSpPr>
          <p:nvPr/>
        </p:nvSpPr>
        <p:spPr>
          <a:xfrm xmlns:a="http://schemas.openxmlformats.org/drawingml/2006/main">
            <a:off x="6419850" y="52197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952"/>
          </a:bodyPr>
          <a:lstStyle xmlns:a="http://schemas.openxmlformats.org/drawingml/2006/main"/>
          <a:p xmlns:a="http://schemas.openxmlformats.org/drawingml/2006/main">
            <a:pPr>
              <a:defRPr sz="1575" b="1">
                <a:solidFill>
                  <a:srgbClr val="087F5B"/>
                </a:solidFill>
                <a:latin typeface="Arial"/>
                <a:ea typeface="Arial"/>
                <a:cs typeface="Arial"/>
              </a:defRPr>
            </a:pPr>
            <a:r>
              <a:rPr sz="1575" b="1">
                <a:solidFill>
                  <a:srgbClr val="087F5B"/>
                </a:solidFill>
                <a:latin typeface="Arial"/>
                <a:ea typeface="Arial"/>
                <a:cs typeface="Arial"/>
              </a:rPr>
              <a:t>Complete sample language</a:t>
            </a:r>
          </a:p>
        </p:txBody>
      </p:sp>
      <p:sp>
        <p:nvSpPr>
          <p:cNvPr id="7" name="">
            <a:extLst xmlns:a="http://schemas.openxmlformats.org/drawingml/2006/main">
              <a:ext uri="{FF2B5EF4-FFF2-40B4-BE49-F238E27FC236}">
                <a16:creationId xmlns:a16="http://schemas.microsoft.com/office/drawing/2014/main" id="{1420142E-F082-4D10-9EF7-D2EB4CEA0E02}"/>
              </a:ext>
            </a:extLst>
          </p:cNvPr>
          <p:cNvSpPr>
            <a:spLocks xmlns:a="http://schemas.openxmlformats.org/drawingml/2006/main" noGrp="1"/>
          </p:cNvSpPr>
          <p:nvPr/>
        </p:nvSpPr>
        <p:spPr>
          <a:xfrm xmlns:a="http://schemas.openxmlformats.org/drawingml/2006/main">
            <a:off x="6419850" y="556260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52"/>
          </a:bodyPr>
          <a:lstStyle xmlns:a="http://schemas.openxmlformats.org/drawingml/2006/main"/>
          <a:p xmlns:a="http://schemas.openxmlformats.org/drawingml/2006/main">
            <a:pPr>
              <a:defRPr sz="1500" b="0">
                <a:solidFill>
                  <a:srgbClr val="59645D"/>
                </a:solidFill>
                <a:latin typeface="Arial"/>
                <a:ea typeface="Arial"/>
                <a:cs typeface="Arial"/>
              </a:defRPr>
            </a:pPr>
            <a:r>
              <a:rPr sz="1500" b="0">
                <a:solidFill>
                  <a:srgbClr val="59645D"/>
                </a:solidFill>
                <a:latin typeface="Arial"/>
                <a:ea typeface="Arial"/>
                <a:cs typeface="Arial"/>
              </a:rPr>
              <a:t>Signals name the complete records, denominator, entity type, and measure instead of showing an isolated n and percent.</a:t>
            </a:r>
          </a:p>
        </p:txBody>
      </p:sp>
      <p:sp>
        <p:nvSpPr>
          <p:cNvPr id="8" name="">
            <a:extLst xmlns:a="http://schemas.openxmlformats.org/drawingml/2006/main">
              <a:ext uri="{FF2B5EF4-FFF2-40B4-BE49-F238E27FC236}">
                <a16:creationId xmlns:a16="http://schemas.microsoft.com/office/drawing/2014/main" id="{8025862A-79C3-4E4D-BCF5-5FEB6F2C2E8C}"/>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SITE DESIGN PRESENTATION</a:t>
            </a:r>
          </a:p>
        </p:txBody>
      </p:sp>
      <p:sp>
        <p:nvSpPr>
          <p:cNvPr id="9" name="">
            <a:extLst xmlns:a="http://schemas.openxmlformats.org/drawingml/2006/main">
              <a:ext uri="{FF2B5EF4-FFF2-40B4-BE49-F238E27FC236}">
                <a16:creationId xmlns:a16="http://schemas.microsoft.com/office/drawing/2014/main" id="{F60DFCF7-A8AF-4988-A533-A2A10406CA2B}"/>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06</a:t>
            </a:r>
          </a:p>
        </p:txBody>
      </p:sp>
    </p:spTree>
    <p:extLst>
      <p:ext uri="{BB962C8B-B14F-4D97-AF65-F5344CB8AC3E}">
        <p14:creationId xmlns:p14="http://schemas.microsoft.com/office/powerpoint/2010/main" val="1049657796"/>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AA2B6F4-7A0D-4274-B230-71C7CC7ACCE3}"/>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32"/>
          </a:bodyPr>
          <a:lstStyle xmlns:a="http://schemas.openxmlformats.org/drawingml/2006/main"/>
          <a:p xmlns:a="http://schemas.openxmlformats.org/drawingml/2006/main">
            <a:pPr>
              <a:defRPr sz="3150" b="1">
                <a:solidFill>
                  <a:srgbClr val="17201C"/>
                </a:solidFill>
                <a:latin typeface="Arial"/>
                <a:ea typeface="Arial"/>
                <a:cs typeface="Arial"/>
              </a:defRPr>
            </a:pPr>
            <a:r>
              <a:rPr sz="3150" b="1">
                <a:solidFill>
                  <a:srgbClr val="17201C"/>
                </a:solidFill>
                <a:latin typeface="Arial"/>
                <a:ea typeface="Arial"/>
                <a:cs typeface="Arial"/>
              </a:rPr>
              <a:t>Evidence boundaries and deliverables</a:t>
            </a:r>
          </a:p>
        </p:txBody>
      </p:sp>
      <p:sp>
        <p:nvSpPr>
          <p:cNvPr id="2" name="">
            <a:extLst xmlns:a="http://schemas.openxmlformats.org/drawingml/2006/main">
              <a:ext uri="{FF2B5EF4-FFF2-40B4-BE49-F238E27FC236}">
                <a16:creationId xmlns:a16="http://schemas.microsoft.com/office/drawing/2014/main" id="{79A96EFA-76E4-40C0-89E2-D9ECA5EB8CC1}"/>
              </a:ext>
            </a:extLst>
          </p:cNvPr>
          <p:cNvSpPr>
            <a:spLocks xmlns:a="http://schemas.openxmlformats.org/drawingml/2006/main" noGrp="1"/>
          </p:cNvSpPr>
          <p:nvPr/>
        </p:nvSpPr>
        <p:spPr>
          <a:xfrm xmlns:a="http://schemas.openxmlformats.org/drawingml/2006/main">
            <a:off x="64770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309"/>
          </a:bodyPr>
          <a:lstStyle xmlns:a="http://schemas.openxmlformats.org/drawingml/2006/main"/>
          <a:p xmlns:a="http://schemas.openxmlformats.org/drawingml/2006/main">
            <a:pPr>
              <a:defRPr sz="2025" b="1">
                <a:solidFill>
                  <a:srgbClr val="087F5B"/>
                </a:solidFill>
                <a:latin typeface="Arial"/>
                <a:ea typeface="Arial"/>
                <a:cs typeface="Arial"/>
              </a:defRPr>
            </a:pPr>
            <a:r>
              <a:rPr sz="2025" b="1">
                <a:solidFill>
                  <a:srgbClr val="087F5B"/>
                </a:solidFill>
                <a:latin typeface="Arial"/>
                <a:ea typeface="Arial"/>
                <a:cs typeface="Arial"/>
              </a:rPr>
              <a:t>Analysis status</a:t>
            </a:r>
          </a:p>
        </p:txBody>
      </p:sp>
      <p:sp>
        <p:nvSpPr>
          <p:cNvPr id="3" name="">
            <a:extLst xmlns:a="http://schemas.openxmlformats.org/drawingml/2006/main">
              <a:ext uri="{FF2B5EF4-FFF2-40B4-BE49-F238E27FC236}">
                <a16:creationId xmlns:a16="http://schemas.microsoft.com/office/drawing/2014/main" id="{5875E55F-72AD-434C-A49F-B2B3B312C3E1}"/>
              </a:ext>
            </a:extLst>
          </p:cNvPr>
          <p:cNvSpPr>
            <a:spLocks xmlns:a="http://schemas.openxmlformats.org/drawingml/2006/main" noGrp="1"/>
          </p:cNvSpPr>
          <p:nvPr/>
        </p:nvSpPr>
        <p:spPr>
          <a:xfrm xmlns:a="http://schemas.openxmlformats.org/drawingml/2006/main">
            <a:off x="647700" y="1771650"/>
            <a:ext cx="3810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1">
                <a:solidFill>
                  <a:srgbClr val="17201C"/>
                </a:solidFill>
                <a:latin typeface="Arial"/>
                <a:ea typeface="Arial"/>
                <a:cs typeface="Arial"/>
              </a:defRPr>
            </a:pPr>
            <a:r>
              <a:rPr sz="1725" b="1">
                <a:solidFill>
                  <a:srgbClr val="17201C"/>
                </a:solidFill>
                <a:latin typeface="Arial"/>
                <a:ea typeface="Arial"/>
                <a:cs typeface="Arial"/>
              </a:rPr>
              <a:t>Descriptive / performed</a:t>
            </a:r>
          </a:p>
          <a:p xmlns:a="http://schemas.openxmlformats.org/drawingml/2006/main">
            <a:pPr>
              <a:defRPr sz="1725" b="1">
                <a:solidFill>
                  <a:srgbClr val="17201C"/>
                </a:solidFill>
                <a:latin typeface="Arial"/>
                <a:ea typeface="Arial"/>
                <a:cs typeface="Arial"/>
              </a:defRPr>
            </a:pPr>
            <a:r>
              <a:rPr sz="1725" b="1">
                <a:solidFill>
                  <a:srgbClr val="17201C"/>
                </a:solidFill>
                <a:latin typeface="Arial"/>
                <a:ea typeface="Arial"/>
                <a:cs typeface="Arial"/>
              </a:rPr>
              <a:t>Diagnostic / partial</a:t>
            </a:r>
          </a:p>
          <a:p xmlns:a="http://schemas.openxmlformats.org/drawingml/2006/main">
            <a:pPr>
              <a:defRPr sz="1725" b="1">
                <a:solidFill>
                  <a:srgbClr val="17201C"/>
                </a:solidFill>
                <a:latin typeface="Arial"/>
                <a:ea typeface="Arial"/>
                <a:cs typeface="Arial"/>
              </a:defRPr>
            </a:pPr>
            <a:r>
              <a:rPr sz="1725" b="1">
                <a:solidFill>
                  <a:srgbClr val="17201C"/>
                </a:solidFill>
                <a:latin typeface="Arial"/>
                <a:ea typeface="Arial"/>
                <a:cs typeface="Arial"/>
              </a:rPr>
              <a:t>Predictive / not performed</a:t>
            </a:r>
          </a:p>
          <a:p xmlns:a="http://schemas.openxmlformats.org/drawingml/2006/main">
            <a:pPr>
              <a:defRPr sz="1725" b="1">
                <a:solidFill>
                  <a:srgbClr val="17201C"/>
                </a:solidFill>
                <a:latin typeface="Arial"/>
                <a:ea typeface="Arial"/>
                <a:cs typeface="Arial"/>
              </a:defRPr>
            </a:pPr>
            <a:r>
              <a:rPr sz="1725" b="1">
                <a:solidFill>
                  <a:srgbClr val="17201C"/>
                </a:solidFill>
                <a:latin typeface="Arial"/>
                <a:ea typeface="Arial"/>
                <a:cs typeface="Arial"/>
              </a:rPr>
              <a:t>Prescriptive / not performed</a:t>
            </a:r>
          </a:p>
        </p:txBody>
      </p:sp>
      <p:sp>
        <p:nvSpPr>
          <p:cNvPr id="4" name="">
            <a:extLst xmlns:a="http://schemas.openxmlformats.org/drawingml/2006/main">
              <a:ext uri="{FF2B5EF4-FFF2-40B4-BE49-F238E27FC236}">
                <a16:creationId xmlns:a16="http://schemas.microsoft.com/office/drawing/2014/main" id="{65A26733-E723-4948-A0DE-0D6DD59826A2}"/>
              </a:ext>
            </a:extLst>
          </p:cNvPr>
          <p:cNvSpPr>
            <a:spLocks xmlns:a="http://schemas.openxmlformats.org/drawingml/2006/main" noGrp="1"/>
          </p:cNvSpPr>
          <p:nvPr/>
        </p:nvSpPr>
        <p:spPr>
          <a:xfrm xmlns:a="http://schemas.openxmlformats.org/drawingml/2006/main">
            <a:off x="647700" y="34480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309"/>
          </a:bodyPr>
          <a:lstStyle xmlns:a="http://schemas.openxmlformats.org/drawingml/2006/main"/>
          <a:p xmlns:a="http://schemas.openxmlformats.org/drawingml/2006/main">
            <a:pPr>
              <a:defRPr sz="2025" b="1">
                <a:solidFill>
                  <a:srgbClr val="087F5B"/>
                </a:solidFill>
                <a:latin typeface="Arial"/>
                <a:ea typeface="Arial"/>
                <a:cs typeface="Arial"/>
              </a:defRPr>
            </a:pPr>
            <a:r>
              <a:rPr sz="2025" b="1">
                <a:solidFill>
                  <a:srgbClr val="087F5B"/>
                </a:solidFill>
                <a:latin typeface="Arial"/>
                <a:ea typeface="Arial"/>
                <a:cs typeface="Arial"/>
              </a:rPr>
              <a:t>Decision boundary</a:t>
            </a:r>
          </a:p>
        </p:txBody>
      </p:sp>
      <p:sp>
        <p:nvSpPr>
          <p:cNvPr id="5" name="">
            <a:extLst xmlns:a="http://schemas.openxmlformats.org/drawingml/2006/main">
              <a:ext uri="{FF2B5EF4-FFF2-40B4-BE49-F238E27FC236}">
                <a16:creationId xmlns:a16="http://schemas.microsoft.com/office/drawing/2014/main" id="{A53332D1-276E-46CF-B1A8-01E6F0B06B0A}"/>
              </a:ext>
            </a:extLst>
          </p:cNvPr>
          <p:cNvSpPr>
            <a:spLocks xmlns:a="http://schemas.openxmlformats.org/drawingml/2006/main" noGrp="1"/>
          </p:cNvSpPr>
          <p:nvPr/>
        </p:nvSpPr>
        <p:spPr>
          <a:xfrm xmlns:a="http://schemas.openxmlformats.org/drawingml/2006/main">
            <a:off x="647700" y="3886200"/>
            <a:ext cx="3810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121"/>
          </a:bodyPr>
          <a:lstStyle xmlns:a="http://schemas.openxmlformats.org/drawingml/2006/main"/>
          <a:p xmlns:a="http://schemas.openxmlformats.org/drawingml/2006/main">
            <a:pPr>
              <a:defRPr sz="1650" b="0">
                <a:solidFill>
                  <a:srgbClr val="17201C"/>
                </a:solidFill>
                <a:latin typeface="Arial"/>
                <a:ea typeface="Arial"/>
                <a:cs typeface="Arial"/>
              </a:defRPr>
            </a:pPr>
            <a:r>
              <a:rPr sz="1650" b="0">
                <a:solidFill>
                  <a:srgbClr val="17201C"/>
                </a:solidFill>
                <a:latin typeface="Arial"/>
                <a:ea typeface="Arial"/>
                <a:cs typeface="Arial"/>
              </a:rPr>
              <a:t>The shortlist orders diligence. It does not prove a best market, forecast future conditions, calculate investment return, or select an optimal site. The balance gap is not an observed trade flow.</a:t>
            </a:r>
          </a:p>
        </p:txBody>
      </p:sp>
      <p:sp>
        <p:nvSpPr>
          <p:cNvPr id="6" name="">
            <a:extLst xmlns:a="http://schemas.openxmlformats.org/drawingml/2006/main">
              <a:ext uri="{FF2B5EF4-FFF2-40B4-BE49-F238E27FC236}">
                <a16:creationId xmlns:a16="http://schemas.microsoft.com/office/drawing/2014/main" id="{B0D2A58A-161D-4E2B-8238-4C45C56CBD28}"/>
              </a:ext>
            </a:extLst>
          </p:cNvPr>
          <p:cNvSpPr>
            <a:spLocks xmlns:a="http://schemas.openxmlformats.org/drawingml/2006/main" noGrp="1"/>
          </p:cNvSpPr>
          <p:nvPr/>
        </p:nvSpPr>
        <p:spPr>
          <a:xfrm xmlns:a="http://schemas.openxmlformats.org/drawingml/2006/main">
            <a:off x="647700" y="5162550"/>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59645D"/>
                </a:solidFill>
                <a:latin typeface="Arial"/>
                <a:ea typeface="Arial"/>
                <a:cs typeface="Arial"/>
              </a:defRPr>
            </a:pPr>
            <a:r>
              <a:rPr sz="1275" b="1">
                <a:solidFill>
                  <a:srgbClr val="59645D"/>
                </a:solidFill>
                <a:latin typeface="Arial"/>
                <a:ea typeface="Arial"/>
                <a:cs typeface="Arial"/>
              </a:rPr>
              <a:t>11 stable files</a:t>
            </a:r>
          </a:p>
          <a:p xmlns:a="http://schemas.openxmlformats.org/drawingml/2006/main">
            <a:pPr>
              <a:defRPr sz="1275" b="1">
                <a:solidFill>
                  <a:srgbClr val="59645D"/>
                </a:solidFill>
                <a:latin typeface="Arial"/>
                <a:ea typeface="Arial"/>
                <a:cs typeface="Arial"/>
              </a:defRPr>
            </a:pPr>
            <a:r>
              <a:rPr sz="1275" b="1">
                <a:solidFill>
                  <a:srgbClr val="59645D"/>
                </a:solidFill>
                <a:latin typeface="Arial"/>
                <a:ea typeface="Arial"/>
                <a:cs typeface="Arial"/>
              </a:rPr>
              <a:t>global-energy-decision-atlas.vercel.app</a:t>
            </a:r>
          </a:p>
          <a:p xmlns:a="http://schemas.openxmlformats.org/drawingml/2006/main">
            <a:pPr>
              <a:defRPr sz="1275" b="1">
                <a:solidFill>
                  <a:srgbClr val="59645D"/>
                </a:solidFill>
                <a:latin typeface="Arial"/>
                <a:ea typeface="Arial"/>
                <a:cs typeface="Arial"/>
              </a:defRPr>
            </a:pPr>
            <a:r>
              <a:rPr sz="1275" b="1">
                <a:solidFill>
                  <a:srgbClr val="59645D"/>
                </a:solidFill>
                <a:latin typeface="Arial"/>
                <a:ea typeface="Arial"/>
                <a:cs typeface="Arial"/>
              </a:rPr>
              <a:t>/deliverables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b5bafe5086b4adb"/>
          <a:stretch xmlns:a="http://schemas.openxmlformats.org/drawingml/2006/main"/>
        </p:blipFill>
        <p:spPr>
          <a:xfrm xmlns:a="http://schemas.openxmlformats.org/drawingml/2006/main">
            <a:off x="5237453" y="1104900"/>
            <a:ext cx="5984293" cy="4762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35084FD-651C-4C00-9FC3-049C894253AE}"/>
              </a:ext>
            </a:extLst>
          </p:cNvPr>
          <p:cNvSpPr>
            <a:spLocks xmlns:a="http://schemas.openxmlformats.org/drawingml/2006/main" noGrp="1"/>
          </p:cNvSpPr>
          <p:nvPr/>
        </p:nvSpPr>
        <p:spPr>
          <a:xfrm xmlns:a="http://schemas.openxmlformats.org/drawingml/2006/main">
            <a:off x="5095875" y="59626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32"/>
          </a:bodyPr>
          <a:lstStyle xmlns:a="http://schemas.openxmlformats.org/drawingml/2006/main"/>
          <a:p xmlns:a="http://schemas.openxmlformats.org/drawingml/2006/main">
            <a:pPr>
              <a:defRPr sz="1500" b="0">
                <a:solidFill>
                  <a:srgbClr val="59645D"/>
                </a:solidFill>
                <a:latin typeface="Arial"/>
                <a:ea typeface="Arial"/>
                <a:cs typeface="Arial"/>
              </a:defRPr>
            </a:pPr>
            <a:r>
              <a:rPr sz="1500" b="0">
                <a:solidFill>
                  <a:srgbClr val="59645D"/>
                </a:solidFill>
                <a:latin typeface="Arial"/>
                <a:ea typeface="Arial"/>
                <a:cs typeface="Arial"/>
              </a:rPr>
              <a:t>The public page opens without sign-in and preserves all 11 download names.</a:t>
            </a:r>
          </a:p>
        </p:txBody>
      </p:sp>
      <p:sp>
        <p:nvSpPr>
          <p:cNvPr id="9" name="">
            <a:extLst xmlns:a="http://schemas.openxmlformats.org/drawingml/2006/main">
              <a:ext uri="{FF2B5EF4-FFF2-40B4-BE49-F238E27FC236}">
                <a16:creationId xmlns:a16="http://schemas.microsoft.com/office/drawing/2014/main" id="{151B4A9F-8133-4ADF-8A27-10970A4AB744}"/>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SITE DESIGN PRESENTATION</a:t>
            </a:r>
          </a:p>
        </p:txBody>
      </p:sp>
      <p:sp>
        <p:nvSpPr>
          <p:cNvPr id="10" name="">
            <a:extLst xmlns:a="http://schemas.openxmlformats.org/drawingml/2006/main">
              <a:ext uri="{FF2B5EF4-FFF2-40B4-BE49-F238E27FC236}">
                <a16:creationId xmlns:a16="http://schemas.microsoft.com/office/drawing/2014/main" id="{112A8E04-22AB-428F-A828-82DAC1355D60}"/>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07</a:t>
            </a:r>
          </a:p>
        </p:txBody>
      </p:sp>
    </p:spTree>
    <p:extLst>
      <p:ext uri="{BB962C8B-B14F-4D97-AF65-F5344CB8AC3E}">
        <p14:creationId xmlns:p14="http://schemas.microsoft.com/office/powerpoint/2010/main" val="16538332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2026-09-19T22:24:05.4210000Z</dcterms:created>
  <dcterms:modified xsi:type="dcterms:W3CDTF">2026-09-19T22:24:05.4210000Z</dcterms:modified>
</coreProperties>
</file>